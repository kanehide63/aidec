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7559675" cy="10691813"/>
  <p:notesSz cx="10691813" cy="75596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Raksul template: A4_yoko.pptx
- User-provided AIDEC brand assets and approved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Raksul template: A4_yoko.pptx
- User-provided AIDEC brand assets and approved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jpe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559675" cy="3017520"/>
          </a:xfrm>
          <a:prstGeom prst="rect">
            <a:avLst/>
          </a:prstGeom>
          <a:solidFill>
            <a:srgbClr val="061B3A"/>
          </a:solidFill>
          <a:ln w="12700">
            <a:solidFill>
              <a:srgbClr val="061B3A">
                <a:alpha val="0"/>
              </a:srgbClr>
            </a:solidFill>
            <a:prstDash val="solid"/>
          </a:ln>
        </p:spPr>
      </p:sp>
      <p:sp>
        <p:nvSpPr>
          <p:cNvPr id="3" name="Shape 1"/>
          <p:cNvSpPr/>
          <p:nvPr/>
        </p:nvSpPr>
        <p:spPr>
          <a:xfrm>
            <a:off x="0" y="2907792"/>
            <a:ext cx="7559675" cy="109728"/>
          </a:xfrm>
          <a:prstGeom prst="rect">
            <a:avLst/>
          </a:prstGeom>
          <a:solidFill>
            <a:srgbClr val="1155F5"/>
          </a:solidFill>
          <a:ln w="12700">
            <a:solidFill>
              <a:srgbClr val="1155F5">
                <a:alpha val="0"/>
              </a:srgbClr>
            </a:solidFill>
            <a:prstDash val="solid"/>
          </a:ln>
        </p:spPr>
      </p:sp>
      <p:sp>
        <p:nvSpPr>
          <p:cNvPr id="4" name="Shape 2"/>
          <p:cNvSpPr/>
          <p:nvPr/>
        </p:nvSpPr>
        <p:spPr>
          <a:xfrm>
            <a:off x="512064" y="512064"/>
            <a:ext cx="969264" cy="969264"/>
          </a:xfrm>
          <a:prstGeom prst="roundRect">
            <a:avLst>
              <a:gd name="adj" fmla="val 7547"/>
            </a:avLst>
          </a:prstGeom>
          <a:solidFill>
            <a:srgbClr val="FFFFFF"/>
          </a:solidFill>
          <a:ln w="12700">
            <a:solidFill>
              <a:srgbClr val="FFFFFF">
                <a:alpha val="0"/>
              </a:srgbClr>
            </a:solidFill>
            <a:prstDash val="solid"/>
          </a:ln>
        </p:spPr>
      </p:sp>
      <p:pic>
        <p:nvPicPr>
          <p:cNvPr id="5" name="Image 0" descr="C:\Users\admin\Documents\Codex\2026-07-29\referenced-chatgpt-conversation-this-is-untrusted\work\print-design\aidec-symbol.jpeg">    </p:cNvPr>
          <p:cNvPicPr>
            <a:picLocks noChangeAspect="1"/>
          </p:cNvPicPr>
          <p:nvPr/>
        </p:nvPicPr>
        <p:blipFill>
          <a:blip r:embed="rId1"/>
          <a:stretch>
            <a:fillRect/>
          </a:stretch>
        </p:blipFill>
        <p:spPr>
          <a:xfrm>
            <a:off x="594360" y="594360"/>
            <a:ext cx="804672" cy="804672"/>
          </a:xfrm>
          <a:prstGeom prst="rect">
            <a:avLst/>
          </a:prstGeom>
        </p:spPr>
      </p:pic>
      <p:sp>
        <p:nvSpPr>
          <p:cNvPr id="6" name="Text 3"/>
          <p:cNvSpPr txBox="1"/>
          <p:nvPr/>
        </p:nvSpPr>
        <p:spPr>
          <a:xfrm>
            <a:off x="1682496" y="649224"/>
            <a:ext cx="2267712" cy="420624"/>
          </a:xfrm>
          <a:prstGeom prst="rect">
            <a:avLst/>
          </a:prstGeom>
          <a:noFill/>
          <a:ln/>
        </p:spPr>
        <p:txBody>
          <a:bodyPr wrap="square" lIns="0" tIns="0" rIns="0" bIns="0" rtlCol="0" anchor="ctr">
            <a:normAutofit/>
          </a:bodyPr>
          <a:lstStyle/>
          <a:p>
            <a:pPr algn="l" indent="0" marL="0">
              <a:buNone/>
            </a:pPr>
            <a:r>
              <a:rPr lang="en-US" sz="2700" b="1" spc="420" kern="0" dirty="0">
                <a:solidFill>
                  <a:srgbClr val="FFFFFF"/>
                </a:solidFill>
                <a:latin typeface="Aptos" pitchFamily="34" charset="0"/>
                <a:ea typeface="Aptos" pitchFamily="34" charset="-122"/>
                <a:cs typeface="Aptos" pitchFamily="34" charset="-120"/>
              </a:rPr>
              <a:t>AIDEC</a:t>
            </a:r>
            <a:endParaRPr lang="en-US" sz="2700" dirty="0"/>
          </a:p>
        </p:txBody>
      </p:sp>
      <p:sp>
        <p:nvSpPr>
          <p:cNvPr id="7" name="Text 4"/>
          <p:cNvSpPr txBox="1"/>
          <p:nvPr/>
        </p:nvSpPr>
        <p:spPr>
          <a:xfrm>
            <a:off x="1691640" y="1078992"/>
            <a:ext cx="2907792" cy="256032"/>
          </a:xfrm>
          <a:prstGeom prst="rect">
            <a:avLst/>
          </a:prstGeom>
          <a:noFill/>
          <a:ln/>
        </p:spPr>
        <p:txBody>
          <a:bodyPr wrap="square" lIns="0" tIns="0" rIns="0" bIns="0" rtlCol="0" anchor="ctr">
            <a:normAutofit/>
          </a:bodyPr>
          <a:lstStyle/>
          <a:p>
            <a:pPr algn="l" indent="0" marL="0">
              <a:buNone/>
            </a:pPr>
            <a:r>
              <a:rPr lang="en-US" sz="850" dirty="0">
                <a:solidFill>
                  <a:srgbClr val="BFD1E8"/>
                </a:solidFill>
                <a:latin typeface="Aptos" pitchFamily="34" charset="0"/>
                <a:ea typeface="Aptos" pitchFamily="34" charset="-122"/>
                <a:cs typeface="Aptos" pitchFamily="34" charset="-120"/>
              </a:rPr>
              <a:t>AI-Driven Enterprise Compass &amp; Consulting</a:t>
            </a:r>
            <a:endParaRPr lang="en-US" sz="850" dirty="0"/>
          </a:p>
        </p:txBody>
      </p:sp>
      <p:sp>
        <p:nvSpPr>
          <p:cNvPr id="8" name="Text 5"/>
          <p:cNvSpPr txBox="1"/>
          <p:nvPr/>
        </p:nvSpPr>
        <p:spPr>
          <a:xfrm>
            <a:off x="548640" y="1700784"/>
            <a:ext cx="5943600" cy="841248"/>
          </a:xfrm>
          <a:prstGeom prst="rect">
            <a:avLst/>
          </a:prstGeom>
          <a:noFill/>
          <a:ln/>
        </p:spPr>
        <p:txBody>
          <a:bodyPr wrap="square" lIns="0" tIns="0" rIns="0" bIns="0" rtlCol="0" anchor="ctr">
            <a:normAutofit/>
          </a:bodyPr>
          <a:lstStyle/>
          <a:p>
            <a:pPr algn="l" indent="0" marL="0">
              <a:buNone/>
            </a:pPr>
            <a:r>
              <a:rPr lang="en-US" sz="2350" b="1" dirty="0">
                <a:solidFill>
                  <a:srgbClr val="FFFFFF"/>
                </a:solidFill>
                <a:latin typeface="Yu Gothic" pitchFamily="34" charset="0"/>
                <a:ea typeface="Yu Gothic" pitchFamily="34" charset="-122"/>
                <a:cs typeface="Yu Gothic" pitchFamily="34" charset="-120"/>
              </a:rPr>
              <a:t>企業の可能性を可視化し、</a:t>
            </a:r>
            <a:endParaRPr lang="en-US" sz="2350" dirty="0"/>
          </a:p>
          <a:p>
            <a:pPr algn="l" indent="0" marL="0">
              <a:buNone/>
            </a:pPr>
            <a:r>
              <a:rPr lang="en-US" sz="2350" b="1" dirty="0">
                <a:solidFill>
                  <a:srgbClr val="FFFFFF"/>
                </a:solidFill>
                <a:latin typeface="Yu Gothic" pitchFamily="34" charset="0"/>
                <a:ea typeface="Yu Gothic" pitchFamily="34" charset="-122"/>
                <a:cs typeface="Yu Gothic" pitchFamily="34" charset="-120"/>
              </a:rPr>
              <a:t>AIとともに未来への一歩を支援する。</a:t>
            </a:r>
            <a:endParaRPr lang="en-US" sz="2350" dirty="0"/>
          </a:p>
        </p:txBody>
      </p:sp>
      <p:sp>
        <p:nvSpPr>
          <p:cNvPr id="9" name="Text 6"/>
          <p:cNvSpPr txBox="1"/>
          <p:nvPr/>
        </p:nvSpPr>
        <p:spPr>
          <a:xfrm>
            <a:off x="557784" y="2606040"/>
            <a:ext cx="3840480" cy="228600"/>
          </a:xfrm>
          <a:prstGeom prst="rect">
            <a:avLst/>
          </a:prstGeom>
          <a:noFill/>
          <a:ln/>
        </p:spPr>
        <p:txBody>
          <a:bodyPr wrap="square" lIns="0" tIns="0" rIns="0" bIns="0" rtlCol="0" anchor="ctr">
            <a:normAutofit/>
          </a:bodyPr>
          <a:lstStyle/>
          <a:p>
            <a:pPr algn="l" indent="0" marL="0">
              <a:buNone/>
            </a:pPr>
            <a:r>
              <a:rPr lang="en-US" sz="1050" b="1" dirty="0">
                <a:solidFill>
                  <a:srgbClr val="C8D9EE"/>
                </a:solidFill>
                <a:latin typeface="Yu Gothic" pitchFamily="34" charset="0"/>
                <a:ea typeface="Yu Gothic" pitchFamily="34" charset="-122"/>
                <a:cs typeface="Yu Gothic" pitchFamily="34" charset="-120"/>
              </a:rPr>
              <a:t>AIと共に、未来の一歩のコンパスに。</a:t>
            </a:r>
            <a:endParaRPr lang="en-US" sz="1050" dirty="0"/>
          </a:p>
        </p:txBody>
      </p:sp>
      <p:sp>
        <p:nvSpPr>
          <p:cNvPr id="10" name="Text 7"/>
          <p:cNvSpPr txBox="1"/>
          <p:nvPr/>
        </p:nvSpPr>
        <p:spPr>
          <a:xfrm>
            <a:off x="566928" y="3401568"/>
            <a:ext cx="2011680" cy="228600"/>
          </a:xfrm>
          <a:prstGeom prst="rect">
            <a:avLst/>
          </a:prstGeom>
          <a:noFill/>
          <a:ln/>
        </p:spPr>
        <p:txBody>
          <a:bodyPr wrap="square" lIns="0" tIns="0" rIns="0" bIns="0" rtlCol="0" anchor="ctr">
            <a:normAutofit/>
          </a:bodyPr>
          <a:lstStyle/>
          <a:p>
            <a:pPr algn="l" indent="0" marL="0">
              <a:buNone/>
            </a:pPr>
            <a:r>
              <a:rPr lang="en-US" sz="900" b="1" spc="160" kern="0" dirty="0">
                <a:solidFill>
                  <a:srgbClr val="1155F5"/>
                </a:solidFill>
                <a:latin typeface="Aptos" pitchFamily="34" charset="0"/>
                <a:ea typeface="Aptos" pitchFamily="34" charset="-122"/>
                <a:cs typeface="Aptos" pitchFamily="34" charset="-120"/>
              </a:rPr>
              <a:t>ABOUT AIDEC</a:t>
            </a:r>
            <a:endParaRPr lang="en-US" sz="900" dirty="0"/>
          </a:p>
        </p:txBody>
      </p:sp>
      <p:sp>
        <p:nvSpPr>
          <p:cNvPr id="11" name="Text 8"/>
          <p:cNvSpPr txBox="1"/>
          <p:nvPr/>
        </p:nvSpPr>
        <p:spPr>
          <a:xfrm>
            <a:off x="566928" y="3703320"/>
            <a:ext cx="5715000" cy="329184"/>
          </a:xfrm>
          <a:prstGeom prst="rect">
            <a:avLst/>
          </a:prstGeom>
          <a:noFill/>
          <a:ln/>
        </p:spPr>
        <p:txBody>
          <a:bodyPr wrap="square" lIns="0" tIns="0" rIns="0" bIns="0" rtlCol="0" anchor="ctr">
            <a:normAutofit/>
          </a:bodyPr>
          <a:lstStyle/>
          <a:p>
            <a:pPr algn="l" indent="0" marL="0">
              <a:buNone/>
            </a:pPr>
            <a:r>
              <a:rPr lang="en-US" sz="1750" b="1" dirty="0">
                <a:solidFill>
                  <a:srgbClr val="082A5E"/>
                </a:solidFill>
                <a:latin typeface="Yu Gothic" pitchFamily="34" charset="0"/>
                <a:ea typeface="Yu Gothic" pitchFamily="34" charset="-122"/>
                <a:cs typeface="Yu Gothic" pitchFamily="34" charset="-120"/>
              </a:rPr>
              <a:t>AIDECは、AIを売る会社ではありません。</a:t>
            </a:r>
            <a:endParaRPr lang="en-US" sz="1750" dirty="0"/>
          </a:p>
        </p:txBody>
      </p:sp>
      <p:sp>
        <p:nvSpPr>
          <p:cNvPr id="12" name="Text 9"/>
          <p:cNvSpPr txBox="1"/>
          <p:nvPr/>
        </p:nvSpPr>
        <p:spPr>
          <a:xfrm>
            <a:off x="566928" y="4133088"/>
            <a:ext cx="6080760" cy="804672"/>
          </a:xfrm>
          <a:prstGeom prst="rect">
            <a:avLst/>
          </a:prstGeom>
          <a:noFill/>
          <a:ln/>
        </p:spPr>
        <p:txBody>
          <a:bodyPr wrap="square" lIns="0" tIns="0" rIns="0" bIns="0" rtlCol="0" anchor="t">
            <a:normAutofit/>
          </a:bodyPr>
          <a:lstStyle/>
          <a:p>
            <a:pPr algn="l" indent="0" marL="0">
              <a:lnSpc>
                <a:spcPct val="115000"/>
              </a:lnSpc>
              <a:buNone/>
            </a:pPr>
            <a:r>
              <a:rPr lang="en-US" sz="970" dirty="0">
                <a:solidFill>
                  <a:srgbClr val="10243E"/>
                </a:solidFill>
                <a:latin typeface="Yu Gothic" pitchFamily="34" charset="0"/>
                <a:ea typeface="Yu Gothic" pitchFamily="34" charset="-122"/>
                <a:cs typeface="Yu Gothic" pitchFamily="34" charset="-120"/>
              </a:rPr>
              <a:t>私たちは、AIとの対話を通じて企業の現状や可能性を整理・可視化し、お客様と一緒に最適な方向性を見つけるお手伝いをします。一社一社が抱える課題や目標は異なるからこそ、答えを一方的に提示するのではなく、対話を重ねながら企業に合った選択肢を見つけることを大切にしています。</a:t>
            </a:r>
            <a:endParaRPr lang="en-US" sz="970" dirty="0"/>
          </a:p>
        </p:txBody>
      </p:sp>
      <p:sp>
        <p:nvSpPr>
          <p:cNvPr id="13" name="Shape 10"/>
          <p:cNvSpPr/>
          <p:nvPr/>
        </p:nvSpPr>
        <p:spPr>
          <a:xfrm>
            <a:off x="493776" y="5193792"/>
            <a:ext cx="6565392" cy="2651760"/>
          </a:xfrm>
          <a:prstGeom prst="roundRect">
            <a:avLst>
              <a:gd name="adj" fmla="val 3448"/>
            </a:avLst>
          </a:prstGeom>
          <a:solidFill>
            <a:srgbClr val="F7F9FC"/>
          </a:solidFill>
          <a:ln w="12700">
            <a:solidFill>
              <a:srgbClr val="F7F9FC">
                <a:alpha val="0"/>
              </a:srgbClr>
            </a:solidFill>
            <a:prstDash val="solid"/>
          </a:ln>
        </p:spPr>
      </p:sp>
      <p:pic>
        <p:nvPicPr>
          <p:cNvPr id="14" name="Image 1" descr="C:\Users\admin\Documents\Codex\2026-07-29\referenced-chatgpt-conversation-this-is-untrusted\work\print-design\ai360-symbol.jpeg">    </p:cNvPr>
          <p:cNvPicPr>
            <a:picLocks noChangeAspect="1"/>
          </p:cNvPicPr>
          <p:nvPr/>
        </p:nvPicPr>
        <p:blipFill>
          <a:blip r:embed="rId2"/>
          <a:stretch>
            <a:fillRect/>
          </a:stretch>
        </p:blipFill>
        <p:spPr>
          <a:xfrm>
            <a:off x="722376" y="5413248"/>
            <a:ext cx="1234440" cy="1234440"/>
          </a:xfrm>
          <a:prstGeom prst="rect">
            <a:avLst/>
          </a:prstGeom>
        </p:spPr>
      </p:pic>
      <p:sp>
        <p:nvSpPr>
          <p:cNvPr id="15" name="Text 11"/>
          <p:cNvSpPr txBox="1"/>
          <p:nvPr/>
        </p:nvSpPr>
        <p:spPr>
          <a:xfrm>
            <a:off x="2176272" y="5440680"/>
            <a:ext cx="3383280" cy="365760"/>
          </a:xfrm>
          <a:prstGeom prst="rect">
            <a:avLst/>
          </a:prstGeom>
          <a:noFill/>
          <a:ln/>
        </p:spPr>
        <p:txBody>
          <a:bodyPr wrap="square" lIns="0" tIns="0" rIns="0" bIns="0" rtlCol="0" anchor="ctr">
            <a:normAutofit/>
          </a:bodyPr>
          <a:lstStyle/>
          <a:p>
            <a:pPr algn="l" indent="0" marL="0">
              <a:buNone/>
            </a:pPr>
            <a:r>
              <a:rPr lang="en-US" sz="2050" b="1" dirty="0">
                <a:solidFill>
                  <a:srgbClr val="082A5E"/>
                </a:solidFill>
                <a:latin typeface="Yu Gothic" pitchFamily="34" charset="0"/>
                <a:ea typeface="Yu Gothic" pitchFamily="34" charset="-122"/>
                <a:cs typeface="Yu Gothic" pitchFamily="34" charset="-120"/>
              </a:rPr>
              <a:t>AI企業診断360</a:t>
            </a:r>
            <a:endParaRPr lang="en-US" sz="2050" dirty="0"/>
          </a:p>
        </p:txBody>
      </p:sp>
      <p:sp>
        <p:nvSpPr>
          <p:cNvPr id="16" name="Text 12"/>
          <p:cNvSpPr txBox="1"/>
          <p:nvPr/>
        </p:nvSpPr>
        <p:spPr>
          <a:xfrm>
            <a:off x="2185416" y="5824728"/>
            <a:ext cx="4315968" cy="274320"/>
          </a:xfrm>
          <a:prstGeom prst="rect">
            <a:avLst/>
          </a:prstGeom>
          <a:noFill/>
          <a:ln/>
        </p:spPr>
        <p:txBody>
          <a:bodyPr wrap="square" lIns="0" tIns="0" rIns="0" bIns="0" rtlCol="0" anchor="ctr">
            <a:normAutofit/>
          </a:bodyPr>
          <a:lstStyle/>
          <a:p>
            <a:pPr algn="l" indent="0" marL="0">
              <a:buNone/>
            </a:pPr>
            <a:r>
              <a:rPr lang="en-US" sz="950" dirty="0">
                <a:solidFill>
                  <a:srgbClr val="66778D"/>
                </a:solidFill>
                <a:latin typeface="Yu Gothic" pitchFamily="34" charset="0"/>
                <a:ea typeface="Yu Gothic" pitchFamily="34" charset="-122"/>
                <a:cs typeface="Yu Gothic" pitchFamily="34" charset="-120"/>
              </a:rPr>
              <a:t>企業の現在地と可能性を、3つのステップで可視化します。</a:t>
            </a:r>
            <a:endParaRPr lang="en-US" sz="950" dirty="0"/>
          </a:p>
        </p:txBody>
      </p:sp>
      <p:sp>
        <p:nvSpPr>
          <p:cNvPr id="17" name="Shape 13"/>
          <p:cNvSpPr/>
          <p:nvPr/>
        </p:nvSpPr>
        <p:spPr>
          <a:xfrm>
            <a:off x="2185416" y="6318504"/>
            <a:ext cx="1207008" cy="237744"/>
          </a:xfrm>
          <a:prstGeom prst="roundRect">
            <a:avLst>
              <a:gd name="adj" fmla="val 50000"/>
            </a:avLst>
          </a:prstGeom>
          <a:solidFill>
            <a:srgbClr val="1155F5"/>
          </a:solidFill>
          <a:ln w="12700">
            <a:solidFill>
              <a:srgbClr val="1155F5">
                <a:alpha val="0"/>
              </a:srgbClr>
            </a:solidFill>
            <a:prstDash val="solid"/>
          </a:ln>
        </p:spPr>
      </p:sp>
      <p:sp>
        <p:nvSpPr>
          <p:cNvPr id="18" name="Text 14"/>
          <p:cNvSpPr txBox="1"/>
          <p:nvPr/>
        </p:nvSpPr>
        <p:spPr>
          <a:xfrm>
            <a:off x="2185416" y="6318504"/>
            <a:ext cx="1207008" cy="237744"/>
          </a:xfrm>
          <a:prstGeom prst="rect">
            <a:avLst/>
          </a:prstGeom>
          <a:noFill/>
          <a:ln/>
        </p:spPr>
        <p:txBody>
          <a:bodyPr wrap="square" lIns="0" tIns="0" rIns="0" bIns="0" rtlCol="0" anchor="ctr">
            <a:normAutofit/>
          </a:bodyPr>
          <a:lstStyle/>
          <a:p>
            <a:pPr algn="ctr" indent="0" marL="0">
              <a:buNone/>
            </a:pPr>
            <a:r>
              <a:rPr lang="en-US" sz="750" b="1" dirty="0">
                <a:solidFill>
                  <a:srgbClr val="FFFFFF"/>
                </a:solidFill>
                <a:latin typeface="Yu Gothic" pitchFamily="34" charset="0"/>
                <a:ea typeface="Yu Gothic" pitchFamily="34" charset="-122"/>
                <a:cs typeface="Yu Gothic" pitchFamily="34" charset="-120"/>
              </a:rPr>
              <a:t>Step 1  無料</a:t>
            </a:r>
            <a:endParaRPr lang="en-US" sz="750" dirty="0"/>
          </a:p>
        </p:txBody>
      </p:sp>
      <p:sp>
        <p:nvSpPr>
          <p:cNvPr id="19" name="Shape 15"/>
          <p:cNvSpPr/>
          <p:nvPr/>
        </p:nvSpPr>
        <p:spPr>
          <a:xfrm>
            <a:off x="3520440" y="6318504"/>
            <a:ext cx="1207008" cy="237744"/>
          </a:xfrm>
          <a:prstGeom prst="roundRect">
            <a:avLst>
              <a:gd name="adj" fmla="val 50000"/>
            </a:avLst>
          </a:prstGeom>
          <a:solidFill>
            <a:srgbClr val="082A5E"/>
          </a:solidFill>
          <a:ln w="12700">
            <a:solidFill>
              <a:srgbClr val="082A5E">
                <a:alpha val="0"/>
              </a:srgbClr>
            </a:solidFill>
            <a:prstDash val="solid"/>
          </a:ln>
        </p:spPr>
      </p:sp>
      <p:sp>
        <p:nvSpPr>
          <p:cNvPr id="20" name="Text 16"/>
          <p:cNvSpPr txBox="1"/>
          <p:nvPr/>
        </p:nvSpPr>
        <p:spPr>
          <a:xfrm>
            <a:off x="3520440" y="6318504"/>
            <a:ext cx="1207008" cy="237744"/>
          </a:xfrm>
          <a:prstGeom prst="rect">
            <a:avLst/>
          </a:prstGeom>
          <a:noFill/>
          <a:ln/>
        </p:spPr>
        <p:txBody>
          <a:bodyPr wrap="square" lIns="0" tIns="0" rIns="0" bIns="0" rtlCol="0" anchor="ctr">
            <a:normAutofit/>
          </a:bodyPr>
          <a:lstStyle/>
          <a:p>
            <a:pPr algn="ctr" indent="0" marL="0">
              <a:buNone/>
            </a:pPr>
            <a:r>
              <a:rPr lang="en-US" sz="750" b="1" dirty="0">
                <a:solidFill>
                  <a:srgbClr val="FFFFFF"/>
                </a:solidFill>
                <a:latin typeface="Yu Gothic" pitchFamily="34" charset="0"/>
                <a:ea typeface="Yu Gothic" pitchFamily="34" charset="-122"/>
                <a:cs typeface="Yu Gothic" pitchFamily="34" charset="-120"/>
              </a:rPr>
              <a:t>Step 2  無料</a:t>
            </a:r>
            <a:endParaRPr lang="en-US" sz="750" dirty="0"/>
          </a:p>
        </p:txBody>
      </p:sp>
      <p:sp>
        <p:nvSpPr>
          <p:cNvPr id="21" name="Shape 17"/>
          <p:cNvSpPr/>
          <p:nvPr/>
        </p:nvSpPr>
        <p:spPr>
          <a:xfrm>
            <a:off x="4855464" y="6318504"/>
            <a:ext cx="1499616" cy="237744"/>
          </a:xfrm>
          <a:prstGeom prst="roundRect">
            <a:avLst>
              <a:gd name="adj" fmla="val 50000"/>
            </a:avLst>
          </a:prstGeom>
          <a:solidFill>
            <a:srgbClr val="FFFFFF"/>
          </a:solidFill>
          <a:ln w="12700">
            <a:solidFill>
              <a:srgbClr val="FFFFFF">
                <a:alpha val="0"/>
              </a:srgbClr>
            </a:solidFill>
            <a:prstDash val="solid"/>
          </a:ln>
        </p:spPr>
      </p:sp>
      <p:sp>
        <p:nvSpPr>
          <p:cNvPr id="22" name="Text 18"/>
          <p:cNvSpPr txBox="1"/>
          <p:nvPr/>
        </p:nvSpPr>
        <p:spPr>
          <a:xfrm>
            <a:off x="4855464" y="6318504"/>
            <a:ext cx="1499616" cy="237744"/>
          </a:xfrm>
          <a:prstGeom prst="rect">
            <a:avLst/>
          </a:prstGeom>
          <a:noFill/>
          <a:ln/>
        </p:spPr>
        <p:txBody>
          <a:bodyPr wrap="square" lIns="0" tIns="0" rIns="0" bIns="0" rtlCol="0" anchor="ctr">
            <a:normAutofit/>
          </a:bodyPr>
          <a:lstStyle/>
          <a:p>
            <a:pPr algn="ctr" indent="0" marL="0">
              <a:buNone/>
            </a:pPr>
            <a:r>
              <a:rPr lang="en-US" sz="750" b="1" dirty="0">
                <a:solidFill>
                  <a:srgbClr val="082A5E"/>
                </a:solidFill>
                <a:latin typeface="Yu Gothic" pitchFamily="34" charset="0"/>
                <a:ea typeface="Yu Gothic" pitchFamily="34" charset="-122"/>
                <a:cs typeface="Yu Gothic" pitchFamily="34" charset="-120"/>
              </a:rPr>
              <a:t>Step 3  98,800円</a:t>
            </a:r>
            <a:endParaRPr lang="en-US" sz="750" dirty="0"/>
          </a:p>
        </p:txBody>
      </p:sp>
      <p:sp>
        <p:nvSpPr>
          <p:cNvPr id="23" name="Text 19"/>
          <p:cNvSpPr txBox="1"/>
          <p:nvPr/>
        </p:nvSpPr>
        <p:spPr>
          <a:xfrm>
            <a:off x="2185416" y="6702552"/>
            <a:ext cx="1207008" cy="502920"/>
          </a:xfrm>
          <a:prstGeom prst="rect">
            <a:avLst/>
          </a:prstGeom>
          <a:noFill/>
          <a:ln/>
        </p:spPr>
        <p:txBody>
          <a:bodyPr wrap="square" lIns="0" tIns="0" rIns="0" bIns="0" rtlCol="0" anchor="t">
            <a:normAutofit/>
          </a:bodyPr>
          <a:lstStyle/>
          <a:p>
            <a:pPr algn="ctr" indent="0" marL="0">
              <a:buNone/>
            </a:pPr>
            <a:r>
              <a:rPr lang="en-US" sz="820" dirty="0">
                <a:solidFill>
                  <a:srgbClr val="10243E"/>
                </a:solidFill>
                <a:latin typeface="Yu Gothic" pitchFamily="34" charset="0"/>
                <a:ea typeface="Yu Gothic" pitchFamily="34" charset="-122"/>
                <a:cs typeface="Yu Gothic" pitchFamily="34" charset="-120"/>
              </a:rPr>
              <a:t>公開情報から現在地を整理</a:t>
            </a:r>
            <a:endParaRPr lang="en-US" sz="820" dirty="0"/>
          </a:p>
        </p:txBody>
      </p:sp>
      <p:sp>
        <p:nvSpPr>
          <p:cNvPr id="24" name="Text 20"/>
          <p:cNvSpPr txBox="1"/>
          <p:nvPr/>
        </p:nvSpPr>
        <p:spPr>
          <a:xfrm>
            <a:off x="3520440" y="6702552"/>
            <a:ext cx="1207008" cy="502920"/>
          </a:xfrm>
          <a:prstGeom prst="rect">
            <a:avLst/>
          </a:prstGeom>
          <a:noFill/>
          <a:ln/>
        </p:spPr>
        <p:txBody>
          <a:bodyPr wrap="square" lIns="0" tIns="0" rIns="0" bIns="0" rtlCol="0" anchor="t">
            <a:normAutofit/>
          </a:bodyPr>
          <a:lstStyle/>
          <a:p>
            <a:pPr algn="ctr" indent="0" marL="0">
              <a:buNone/>
            </a:pPr>
            <a:r>
              <a:rPr lang="en-US" sz="820" dirty="0">
                <a:solidFill>
                  <a:srgbClr val="10243E"/>
                </a:solidFill>
                <a:latin typeface="Yu Gothic" pitchFamily="34" charset="0"/>
                <a:ea typeface="Yu Gothic" pitchFamily="34" charset="-122"/>
                <a:cs typeface="Yu Gothic" pitchFamily="34" charset="-120"/>
              </a:rPr>
              <a:t>対話で課題と可能性を深掘り</a:t>
            </a:r>
            <a:endParaRPr lang="en-US" sz="820" dirty="0"/>
          </a:p>
        </p:txBody>
      </p:sp>
      <p:sp>
        <p:nvSpPr>
          <p:cNvPr id="25" name="Text 21"/>
          <p:cNvSpPr txBox="1"/>
          <p:nvPr/>
        </p:nvSpPr>
        <p:spPr>
          <a:xfrm>
            <a:off x="4855464" y="6702552"/>
            <a:ext cx="1499616" cy="502920"/>
          </a:xfrm>
          <a:prstGeom prst="rect">
            <a:avLst/>
          </a:prstGeom>
          <a:noFill/>
          <a:ln/>
        </p:spPr>
        <p:txBody>
          <a:bodyPr wrap="square" lIns="0" tIns="0" rIns="0" bIns="0" rtlCol="0" anchor="t">
            <a:normAutofit/>
          </a:bodyPr>
          <a:lstStyle/>
          <a:p>
            <a:pPr algn="ctr" indent="0" marL="0">
              <a:buNone/>
            </a:pPr>
            <a:r>
              <a:rPr lang="en-US" sz="820" dirty="0">
                <a:solidFill>
                  <a:srgbClr val="10243E"/>
                </a:solidFill>
                <a:latin typeface="Yu Gothic" pitchFamily="34" charset="0"/>
                <a:ea typeface="Yu Gothic" pitchFamily="34" charset="-122"/>
                <a:cs typeface="Yu Gothic" pitchFamily="34" charset="-120"/>
              </a:rPr>
              <a:t>具体的な改善提案をレポート</a:t>
            </a:r>
            <a:endParaRPr lang="en-US" sz="820" dirty="0"/>
          </a:p>
        </p:txBody>
      </p:sp>
      <p:sp>
        <p:nvSpPr>
          <p:cNvPr id="26" name="Shape 22"/>
          <p:cNvSpPr/>
          <p:nvPr/>
        </p:nvSpPr>
        <p:spPr>
          <a:xfrm>
            <a:off x="493776" y="8110728"/>
            <a:ext cx="6565392" cy="1956816"/>
          </a:xfrm>
          <a:prstGeom prst="roundRect">
            <a:avLst>
              <a:gd name="adj" fmla="val 4673"/>
            </a:avLst>
          </a:prstGeom>
          <a:solidFill>
            <a:srgbClr val="082A5E"/>
          </a:solidFill>
          <a:ln w="12700">
            <a:solidFill>
              <a:srgbClr val="082A5E">
                <a:alpha val="0"/>
              </a:srgbClr>
            </a:solidFill>
            <a:prstDash val="solid"/>
          </a:ln>
        </p:spPr>
      </p:sp>
      <p:sp>
        <p:nvSpPr>
          <p:cNvPr id="27" name="Text 23"/>
          <p:cNvSpPr txBox="1"/>
          <p:nvPr/>
        </p:nvSpPr>
        <p:spPr>
          <a:xfrm>
            <a:off x="777240" y="8366760"/>
            <a:ext cx="4069080" cy="347472"/>
          </a:xfrm>
          <a:prstGeom prst="rect">
            <a:avLst/>
          </a:prstGeom>
          <a:noFill/>
          <a:ln/>
        </p:spPr>
        <p:txBody>
          <a:bodyPr wrap="square" lIns="0" tIns="0" rIns="0" bIns="0" rtlCol="0" anchor="ctr">
            <a:normAutofit/>
          </a:bodyPr>
          <a:lstStyle/>
          <a:p>
            <a:pPr algn="l" indent="0" marL="0">
              <a:buNone/>
            </a:pPr>
            <a:r>
              <a:rPr lang="en-US" sz="1850" b="1" dirty="0">
                <a:solidFill>
                  <a:srgbClr val="FFFFFF"/>
                </a:solidFill>
                <a:latin typeface="Yu Gothic" pitchFamily="34" charset="0"/>
                <a:ea typeface="Yu Gothic" pitchFamily="34" charset="-122"/>
                <a:cs typeface="Yu Gothic" pitchFamily="34" charset="-120"/>
              </a:rPr>
              <a:t>まずは無料診断から。</a:t>
            </a:r>
            <a:endParaRPr lang="en-US" sz="1850" dirty="0"/>
          </a:p>
        </p:txBody>
      </p:sp>
      <p:sp>
        <p:nvSpPr>
          <p:cNvPr id="28" name="Text 24"/>
          <p:cNvSpPr txBox="1"/>
          <p:nvPr/>
        </p:nvSpPr>
        <p:spPr>
          <a:xfrm>
            <a:off x="777240" y="8796528"/>
            <a:ext cx="4297680" cy="566928"/>
          </a:xfrm>
          <a:prstGeom prst="rect">
            <a:avLst/>
          </a:prstGeom>
          <a:noFill/>
          <a:ln/>
        </p:spPr>
        <p:txBody>
          <a:bodyPr wrap="square" lIns="0" tIns="0" rIns="0" bIns="0" rtlCol="0" anchor="t">
            <a:normAutofit/>
          </a:bodyPr>
          <a:lstStyle/>
          <a:p>
            <a:pPr algn="l" indent="0" marL="0">
              <a:buNone/>
            </a:pPr>
            <a:r>
              <a:rPr lang="en-US" sz="900" dirty="0">
                <a:solidFill>
                  <a:srgbClr val="D5E2F2"/>
                </a:solidFill>
                <a:latin typeface="Yu Gothic" pitchFamily="34" charset="0"/>
                <a:ea typeface="Yu Gothic" pitchFamily="34" charset="-122"/>
                <a:cs typeface="Yu Gothic" pitchFamily="34" charset="-120"/>
              </a:rPr>
              <a:t>AI企業診断360のStep1・Step2は無料です。</a:t>
            </a:r>
            <a:endParaRPr lang="en-US" sz="900" dirty="0"/>
          </a:p>
          <a:p>
            <a:pPr algn="l" indent="0" marL="0">
              <a:buNone/>
            </a:pPr>
            <a:r>
              <a:rPr lang="en-US" sz="900" dirty="0">
                <a:solidFill>
                  <a:srgbClr val="D5E2F2"/>
                </a:solidFill>
                <a:latin typeface="Yu Gothic" pitchFamily="34" charset="0"/>
                <a:ea typeface="Yu Gothic" pitchFamily="34" charset="-122"/>
                <a:cs typeface="Yu Gothic" pitchFamily="34" charset="-120"/>
              </a:rPr>
              <a:t>自社の現在地や可能性を確認したい方は、お気軽にお申し込みください。</a:t>
            </a:r>
            <a:endParaRPr lang="en-US" sz="900" dirty="0"/>
          </a:p>
        </p:txBody>
      </p:sp>
      <p:sp>
        <p:nvSpPr>
          <p:cNvPr id="29" name="Shape 25"/>
          <p:cNvSpPr/>
          <p:nvPr/>
        </p:nvSpPr>
        <p:spPr>
          <a:xfrm>
            <a:off x="5513832" y="8357616"/>
            <a:ext cx="1097280" cy="1097280"/>
          </a:xfrm>
          <a:prstGeom prst="roundRect">
            <a:avLst>
              <a:gd name="adj" fmla="val 4167"/>
            </a:avLst>
          </a:prstGeom>
          <a:solidFill>
            <a:srgbClr val="FFFFFF"/>
          </a:solidFill>
          <a:ln w="12700">
            <a:solidFill>
              <a:srgbClr val="FFFFFF">
                <a:alpha val="0"/>
              </a:srgbClr>
            </a:solidFill>
            <a:prstDash val="solid"/>
          </a:ln>
        </p:spPr>
      </p:sp>
      <p:pic>
        <p:nvPicPr>
          <p:cNvPr id="30" name="Image 2" descr="C:\Users\admin\Documents\Codex\2026-07-29\referenced-chatgpt-conversation-this-is-untrusted\work\print-design\qr-ai-dec.png">    </p:cNvPr>
          <p:cNvPicPr>
            <a:picLocks noChangeAspect="1"/>
          </p:cNvPicPr>
          <p:nvPr/>
        </p:nvPicPr>
        <p:blipFill>
          <a:blip r:embed="rId3"/>
          <a:stretch>
            <a:fillRect/>
          </a:stretch>
        </p:blipFill>
        <p:spPr>
          <a:xfrm>
            <a:off x="5577840" y="8421624"/>
            <a:ext cx="969264" cy="969264"/>
          </a:xfrm>
          <a:prstGeom prst="rect">
            <a:avLst/>
          </a:prstGeom>
        </p:spPr>
      </p:pic>
      <p:sp>
        <p:nvSpPr>
          <p:cNvPr id="31" name="Text 26"/>
          <p:cNvSpPr txBox="1"/>
          <p:nvPr/>
        </p:nvSpPr>
        <p:spPr>
          <a:xfrm>
            <a:off x="777240" y="9573768"/>
            <a:ext cx="2926080" cy="201168"/>
          </a:xfrm>
          <a:prstGeom prst="rect">
            <a:avLst/>
          </a:prstGeom>
          <a:noFill/>
          <a:ln/>
        </p:spPr>
        <p:txBody>
          <a:bodyPr wrap="square" lIns="0" tIns="0" rIns="0" bIns="0" rtlCol="0" anchor="ctr">
            <a:normAutofit/>
          </a:bodyPr>
          <a:lstStyle/>
          <a:p>
            <a:pPr algn="l" indent="0" marL="0">
              <a:buNone/>
            </a:pPr>
            <a:r>
              <a:rPr lang="en-US" sz="850" b="1" dirty="0">
                <a:solidFill>
                  <a:srgbClr val="FFFFFF"/>
                </a:solidFill>
                <a:latin typeface="Aptos" pitchFamily="34" charset="0"/>
                <a:ea typeface="Aptos" pitchFamily="34" charset="-122"/>
                <a:cs typeface="Aptos" pitchFamily="34" charset="-120"/>
              </a:rPr>
              <a:t>https://ai-dec.jp</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559675" cy="201168"/>
          </a:xfrm>
          <a:prstGeom prst="rect">
            <a:avLst/>
          </a:prstGeom>
          <a:solidFill>
            <a:srgbClr val="1155F5"/>
          </a:solidFill>
          <a:ln w="12700">
            <a:solidFill>
              <a:srgbClr val="1155F5">
                <a:alpha val="0"/>
              </a:srgbClr>
            </a:solidFill>
            <a:prstDash val="solid"/>
          </a:ln>
        </p:spPr>
      </p:sp>
      <p:pic>
        <p:nvPicPr>
          <p:cNvPr id="3" name="Image 0" descr="C:\Users\admin\Documents\Codex\2026-07-29\referenced-chatgpt-conversation-this-is-untrusted\work\print-design\ai360-symbol.jpeg">    </p:cNvPr>
          <p:cNvPicPr>
            <a:picLocks noChangeAspect="1"/>
          </p:cNvPicPr>
          <p:nvPr/>
        </p:nvPicPr>
        <p:blipFill>
          <a:blip r:embed="rId1"/>
          <a:stretch>
            <a:fillRect/>
          </a:stretch>
        </p:blipFill>
        <p:spPr>
          <a:xfrm>
            <a:off x="548640" y="475488"/>
            <a:ext cx="969264" cy="969264"/>
          </a:xfrm>
          <a:prstGeom prst="rect">
            <a:avLst/>
          </a:prstGeom>
        </p:spPr>
      </p:pic>
      <p:sp>
        <p:nvSpPr>
          <p:cNvPr id="4" name="Text 1"/>
          <p:cNvSpPr txBox="1"/>
          <p:nvPr/>
        </p:nvSpPr>
        <p:spPr>
          <a:xfrm>
            <a:off x="1719072" y="548640"/>
            <a:ext cx="3063240" cy="402336"/>
          </a:xfrm>
          <a:prstGeom prst="rect">
            <a:avLst/>
          </a:prstGeom>
          <a:noFill/>
          <a:ln/>
        </p:spPr>
        <p:txBody>
          <a:bodyPr wrap="square" lIns="0" tIns="0" rIns="0" bIns="0" rtlCol="0" anchor="ctr">
            <a:normAutofit/>
          </a:bodyPr>
          <a:lstStyle/>
          <a:p>
            <a:pPr algn="l" indent="0" marL="0">
              <a:buNone/>
            </a:pPr>
            <a:r>
              <a:rPr lang="en-US" sz="2200" b="1" dirty="0">
                <a:solidFill>
                  <a:srgbClr val="082A5E"/>
                </a:solidFill>
                <a:latin typeface="Yu Gothic" pitchFamily="34" charset="0"/>
                <a:ea typeface="Yu Gothic" pitchFamily="34" charset="-122"/>
                <a:cs typeface="Yu Gothic" pitchFamily="34" charset="-120"/>
              </a:rPr>
              <a:t>AI企業診断360</a:t>
            </a:r>
            <a:endParaRPr lang="en-US" sz="2200" dirty="0"/>
          </a:p>
        </p:txBody>
      </p:sp>
      <p:sp>
        <p:nvSpPr>
          <p:cNvPr id="5" name="Text 2"/>
          <p:cNvSpPr txBox="1"/>
          <p:nvPr/>
        </p:nvSpPr>
        <p:spPr>
          <a:xfrm>
            <a:off x="1728216" y="987552"/>
            <a:ext cx="4736592" cy="274320"/>
          </a:xfrm>
          <a:prstGeom prst="rect">
            <a:avLst/>
          </a:prstGeom>
          <a:noFill/>
          <a:ln/>
        </p:spPr>
        <p:txBody>
          <a:bodyPr wrap="square" lIns="0" tIns="0" rIns="0" bIns="0" rtlCol="0" anchor="ctr">
            <a:normAutofit/>
          </a:bodyPr>
          <a:lstStyle/>
          <a:p>
            <a:pPr algn="l" indent="0" marL="0">
              <a:buNone/>
            </a:pPr>
            <a:r>
              <a:rPr lang="en-US" sz="970" dirty="0">
                <a:solidFill>
                  <a:srgbClr val="66778D"/>
                </a:solidFill>
                <a:latin typeface="Yu Gothic" pitchFamily="34" charset="0"/>
                <a:ea typeface="Yu Gothic" pitchFamily="34" charset="-122"/>
                <a:cs typeface="Yu Gothic" pitchFamily="34" charset="-120"/>
              </a:rPr>
              <a:t>AIとの対話で、現在地を知り、可能性を見つけ、次の一歩へ。</a:t>
            </a:r>
            <a:endParaRPr lang="en-US" sz="970" dirty="0"/>
          </a:p>
        </p:txBody>
      </p:sp>
      <p:sp>
        <p:nvSpPr>
          <p:cNvPr id="6" name="Shape 3"/>
          <p:cNvSpPr/>
          <p:nvPr/>
        </p:nvSpPr>
        <p:spPr>
          <a:xfrm>
            <a:off x="548640" y="1554480"/>
            <a:ext cx="6428232" cy="0"/>
          </a:xfrm>
          <a:prstGeom prst="line">
            <a:avLst/>
          </a:prstGeom>
          <a:noFill/>
          <a:ln w="12700">
            <a:solidFill>
              <a:srgbClr val="D9E3EF"/>
            </a:solidFill>
            <a:prstDash val="solid"/>
          </a:ln>
        </p:spPr>
      </p:sp>
      <p:sp>
        <p:nvSpPr>
          <p:cNvPr id="7" name="Shape 4"/>
          <p:cNvSpPr/>
          <p:nvPr/>
        </p:nvSpPr>
        <p:spPr>
          <a:xfrm>
            <a:off x="548640" y="1856232"/>
            <a:ext cx="6428232" cy="1088136"/>
          </a:xfrm>
          <a:prstGeom prst="roundRect">
            <a:avLst>
              <a:gd name="adj" fmla="val 6723"/>
            </a:avLst>
          </a:prstGeom>
          <a:solidFill>
            <a:srgbClr val="F7F9FC"/>
          </a:solidFill>
          <a:ln w="12700">
            <a:solidFill>
              <a:srgbClr val="F7F9FC">
                <a:alpha val="0"/>
              </a:srgbClr>
            </a:solidFill>
            <a:prstDash val="solid"/>
          </a:ln>
        </p:spPr>
      </p:sp>
      <p:sp>
        <p:nvSpPr>
          <p:cNvPr id="8" name="Shape 5"/>
          <p:cNvSpPr/>
          <p:nvPr/>
        </p:nvSpPr>
        <p:spPr>
          <a:xfrm>
            <a:off x="548640" y="1856232"/>
            <a:ext cx="164592" cy="1088136"/>
          </a:xfrm>
          <a:prstGeom prst="rect">
            <a:avLst/>
          </a:prstGeom>
          <a:solidFill>
            <a:srgbClr val="1155F5"/>
          </a:solidFill>
          <a:ln w="12700">
            <a:solidFill>
              <a:srgbClr val="1155F5">
                <a:alpha val="0"/>
              </a:srgbClr>
            </a:solidFill>
            <a:prstDash val="solid"/>
          </a:ln>
        </p:spPr>
      </p:sp>
      <p:sp>
        <p:nvSpPr>
          <p:cNvPr id="9" name="Text 6"/>
          <p:cNvSpPr txBox="1"/>
          <p:nvPr/>
        </p:nvSpPr>
        <p:spPr>
          <a:xfrm>
            <a:off x="859536" y="2020824"/>
            <a:ext cx="731520" cy="201168"/>
          </a:xfrm>
          <a:prstGeom prst="rect">
            <a:avLst/>
          </a:prstGeom>
          <a:noFill/>
          <a:ln/>
        </p:spPr>
        <p:txBody>
          <a:bodyPr wrap="square" lIns="0" tIns="0" rIns="0" bIns="0" rtlCol="0" anchor="ctr">
            <a:normAutofit/>
          </a:bodyPr>
          <a:lstStyle/>
          <a:p>
            <a:pPr algn="l" indent="0" marL="0">
              <a:buNone/>
            </a:pPr>
            <a:r>
              <a:rPr lang="en-US" sz="900" b="1" spc="120" kern="0" dirty="0">
                <a:solidFill>
                  <a:srgbClr val="1155F5"/>
                </a:solidFill>
                <a:latin typeface="Aptos" pitchFamily="34" charset="0"/>
                <a:ea typeface="Aptos" pitchFamily="34" charset="-122"/>
                <a:cs typeface="Aptos" pitchFamily="34" charset="-120"/>
              </a:rPr>
              <a:t>STEP 1</a:t>
            </a:r>
            <a:endParaRPr lang="en-US" sz="900" dirty="0"/>
          </a:p>
        </p:txBody>
      </p:sp>
      <p:sp>
        <p:nvSpPr>
          <p:cNvPr id="10" name="Text 7"/>
          <p:cNvSpPr txBox="1"/>
          <p:nvPr/>
        </p:nvSpPr>
        <p:spPr>
          <a:xfrm>
            <a:off x="859536" y="2313432"/>
            <a:ext cx="1078992" cy="219456"/>
          </a:xfrm>
          <a:prstGeom prst="rect">
            <a:avLst/>
          </a:prstGeom>
          <a:noFill/>
          <a:ln/>
        </p:spPr>
        <p:txBody>
          <a:bodyPr wrap="square" lIns="0" tIns="0" rIns="0" bIns="0" rtlCol="0" anchor="ctr">
            <a:normAutofit/>
          </a:bodyPr>
          <a:lstStyle/>
          <a:p>
            <a:pPr algn="l" indent="0" marL="0">
              <a:buNone/>
            </a:pPr>
            <a:r>
              <a:rPr lang="en-US" sz="920" b="1" dirty="0">
                <a:solidFill>
                  <a:srgbClr val="10243E"/>
                </a:solidFill>
                <a:latin typeface="Yu Gothic" pitchFamily="34" charset="0"/>
                <a:ea typeface="Yu Gothic" pitchFamily="34" charset="-122"/>
                <a:cs typeface="Yu Gothic" pitchFamily="34" charset="-120"/>
              </a:rPr>
              <a:t>無料</a:t>
            </a:r>
            <a:endParaRPr lang="en-US" sz="920" dirty="0"/>
          </a:p>
        </p:txBody>
      </p:sp>
      <p:sp>
        <p:nvSpPr>
          <p:cNvPr id="11" name="Text 8"/>
          <p:cNvSpPr txBox="1"/>
          <p:nvPr/>
        </p:nvSpPr>
        <p:spPr>
          <a:xfrm>
            <a:off x="1938528" y="2020824"/>
            <a:ext cx="4498848" cy="274320"/>
          </a:xfrm>
          <a:prstGeom prst="rect">
            <a:avLst/>
          </a:prstGeom>
          <a:noFill/>
          <a:ln/>
        </p:spPr>
        <p:txBody>
          <a:bodyPr wrap="square" lIns="0" tIns="0" rIns="0" bIns="0" rtlCol="0" anchor="ctr">
            <a:normAutofit/>
          </a:bodyPr>
          <a:lstStyle/>
          <a:p>
            <a:pPr algn="l" indent="0" marL="0">
              <a:buNone/>
            </a:pPr>
            <a:r>
              <a:rPr lang="en-US" sz="1300" b="1" dirty="0">
                <a:solidFill>
                  <a:srgbClr val="082A5E"/>
                </a:solidFill>
                <a:latin typeface="Yu Gothic" pitchFamily="34" charset="0"/>
                <a:ea typeface="Yu Gothic" pitchFamily="34" charset="-122"/>
                <a:cs typeface="Yu Gothic" pitchFamily="34" charset="-120"/>
              </a:rPr>
              <a:t>公開情報から、企業の現在地を可視化</a:t>
            </a:r>
            <a:endParaRPr lang="en-US" sz="1300" dirty="0"/>
          </a:p>
        </p:txBody>
      </p:sp>
      <p:sp>
        <p:nvSpPr>
          <p:cNvPr id="12" name="Text 9"/>
          <p:cNvSpPr txBox="1"/>
          <p:nvPr/>
        </p:nvSpPr>
        <p:spPr>
          <a:xfrm>
            <a:off x="1938528" y="2359152"/>
            <a:ext cx="4489704" cy="402336"/>
          </a:xfrm>
          <a:prstGeom prst="rect">
            <a:avLst/>
          </a:prstGeom>
          <a:noFill/>
          <a:ln/>
        </p:spPr>
        <p:txBody>
          <a:bodyPr wrap="square" lIns="0" tIns="0" rIns="0" bIns="0" rtlCol="0" anchor="t">
            <a:normAutofit/>
          </a:bodyPr>
          <a:lstStyle/>
          <a:p>
            <a:pPr algn="l" indent="0" marL="0">
              <a:buNone/>
            </a:pPr>
            <a:r>
              <a:rPr lang="en-US" sz="850" dirty="0">
                <a:solidFill>
                  <a:srgbClr val="66778D"/>
                </a:solidFill>
                <a:latin typeface="Yu Gothic" pitchFamily="34" charset="0"/>
                <a:ea typeface="Yu Gothic" pitchFamily="34" charset="-122"/>
                <a:cs typeface="Yu Gothic" pitchFamily="34" charset="-120"/>
              </a:rPr>
              <a:t>ホームページやGoogleビジネスプロフィールなど、公開情報をもとに企業の強み・課題・伸びしろを整理します。</a:t>
            </a:r>
            <a:endParaRPr lang="en-US" sz="850" dirty="0"/>
          </a:p>
        </p:txBody>
      </p:sp>
      <p:sp>
        <p:nvSpPr>
          <p:cNvPr id="13" name="Shape 10"/>
          <p:cNvSpPr/>
          <p:nvPr/>
        </p:nvSpPr>
        <p:spPr>
          <a:xfrm>
            <a:off x="548640" y="3200400"/>
            <a:ext cx="6428232" cy="1088136"/>
          </a:xfrm>
          <a:prstGeom prst="roundRect">
            <a:avLst>
              <a:gd name="adj" fmla="val 6723"/>
            </a:avLst>
          </a:prstGeom>
          <a:solidFill>
            <a:srgbClr val="F7F9FC"/>
          </a:solidFill>
          <a:ln w="12700">
            <a:solidFill>
              <a:srgbClr val="F7F9FC">
                <a:alpha val="0"/>
              </a:srgbClr>
            </a:solidFill>
            <a:prstDash val="solid"/>
          </a:ln>
        </p:spPr>
      </p:sp>
      <p:sp>
        <p:nvSpPr>
          <p:cNvPr id="14" name="Shape 11"/>
          <p:cNvSpPr/>
          <p:nvPr/>
        </p:nvSpPr>
        <p:spPr>
          <a:xfrm>
            <a:off x="548640" y="3200400"/>
            <a:ext cx="164592" cy="1088136"/>
          </a:xfrm>
          <a:prstGeom prst="rect">
            <a:avLst/>
          </a:prstGeom>
          <a:solidFill>
            <a:srgbClr val="082A5E"/>
          </a:solidFill>
          <a:ln w="12700">
            <a:solidFill>
              <a:srgbClr val="082A5E">
                <a:alpha val="0"/>
              </a:srgbClr>
            </a:solidFill>
            <a:prstDash val="solid"/>
          </a:ln>
        </p:spPr>
      </p:sp>
      <p:sp>
        <p:nvSpPr>
          <p:cNvPr id="15" name="Text 12"/>
          <p:cNvSpPr txBox="1"/>
          <p:nvPr/>
        </p:nvSpPr>
        <p:spPr>
          <a:xfrm>
            <a:off x="859536" y="3364992"/>
            <a:ext cx="731520" cy="201168"/>
          </a:xfrm>
          <a:prstGeom prst="rect">
            <a:avLst/>
          </a:prstGeom>
          <a:noFill/>
          <a:ln/>
        </p:spPr>
        <p:txBody>
          <a:bodyPr wrap="square" lIns="0" tIns="0" rIns="0" bIns="0" rtlCol="0" anchor="ctr">
            <a:normAutofit/>
          </a:bodyPr>
          <a:lstStyle/>
          <a:p>
            <a:pPr algn="l" indent="0" marL="0">
              <a:buNone/>
            </a:pPr>
            <a:r>
              <a:rPr lang="en-US" sz="900" b="1" spc="120" kern="0" dirty="0">
                <a:solidFill>
                  <a:srgbClr val="082A5E"/>
                </a:solidFill>
                <a:latin typeface="Aptos" pitchFamily="34" charset="0"/>
                <a:ea typeface="Aptos" pitchFamily="34" charset="-122"/>
                <a:cs typeface="Aptos" pitchFamily="34" charset="-120"/>
              </a:rPr>
              <a:t>STEP 2</a:t>
            </a:r>
            <a:endParaRPr lang="en-US" sz="900" dirty="0"/>
          </a:p>
        </p:txBody>
      </p:sp>
      <p:sp>
        <p:nvSpPr>
          <p:cNvPr id="16" name="Text 13"/>
          <p:cNvSpPr txBox="1"/>
          <p:nvPr/>
        </p:nvSpPr>
        <p:spPr>
          <a:xfrm>
            <a:off x="859536" y="3657600"/>
            <a:ext cx="1078992" cy="219456"/>
          </a:xfrm>
          <a:prstGeom prst="rect">
            <a:avLst/>
          </a:prstGeom>
          <a:noFill/>
          <a:ln/>
        </p:spPr>
        <p:txBody>
          <a:bodyPr wrap="square" lIns="0" tIns="0" rIns="0" bIns="0" rtlCol="0" anchor="ctr">
            <a:normAutofit/>
          </a:bodyPr>
          <a:lstStyle/>
          <a:p>
            <a:pPr algn="l" indent="0" marL="0">
              <a:buNone/>
            </a:pPr>
            <a:r>
              <a:rPr lang="en-US" sz="920" b="1" dirty="0">
                <a:solidFill>
                  <a:srgbClr val="10243E"/>
                </a:solidFill>
                <a:latin typeface="Yu Gothic" pitchFamily="34" charset="0"/>
                <a:ea typeface="Yu Gothic" pitchFamily="34" charset="-122"/>
                <a:cs typeface="Yu Gothic" pitchFamily="34" charset="-120"/>
              </a:rPr>
              <a:t>無料</a:t>
            </a:r>
            <a:endParaRPr lang="en-US" sz="920" dirty="0"/>
          </a:p>
        </p:txBody>
      </p:sp>
      <p:sp>
        <p:nvSpPr>
          <p:cNvPr id="17" name="Text 14"/>
          <p:cNvSpPr txBox="1"/>
          <p:nvPr/>
        </p:nvSpPr>
        <p:spPr>
          <a:xfrm>
            <a:off x="1938528" y="3364992"/>
            <a:ext cx="4498848" cy="274320"/>
          </a:xfrm>
          <a:prstGeom prst="rect">
            <a:avLst/>
          </a:prstGeom>
          <a:noFill/>
          <a:ln/>
        </p:spPr>
        <p:txBody>
          <a:bodyPr wrap="square" lIns="0" tIns="0" rIns="0" bIns="0" rtlCol="0" anchor="ctr">
            <a:normAutofit/>
          </a:bodyPr>
          <a:lstStyle/>
          <a:p>
            <a:pPr algn="l" indent="0" marL="0">
              <a:buNone/>
            </a:pPr>
            <a:r>
              <a:rPr lang="en-US" sz="1300" b="1" dirty="0">
                <a:solidFill>
                  <a:srgbClr val="082A5E"/>
                </a:solidFill>
                <a:latin typeface="Yu Gothic" pitchFamily="34" charset="0"/>
                <a:ea typeface="Yu Gothic" pitchFamily="34" charset="-122"/>
                <a:cs typeface="Yu Gothic" pitchFamily="34" charset="-120"/>
              </a:rPr>
              <a:t>対話を通じて、課題と可能性を深掘り</a:t>
            </a:r>
            <a:endParaRPr lang="en-US" sz="1300" dirty="0"/>
          </a:p>
        </p:txBody>
      </p:sp>
      <p:sp>
        <p:nvSpPr>
          <p:cNvPr id="18" name="Text 15"/>
          <p:cNvSpPr txBox="1"/>
          <p:nvPr/>
        </p:nvSpPr>
        <p:spPr>
          <a:xfrm>
            <a:off x="1938528" y="3703320"/>
            <a:ext cx="4489704" cy="402336"/>
          </a:xfrm>
          <a:prstGeom prst="rect">
            <a:avLst/>
          </a:prstGeom>
          <a:noFill/>
          <a:ln/>
        </p:spPr>
        <p:txBody>
          <a:bodyPr wrap="square" lIns="0" tIns="0" rIns="0" bIns="0" rtlCol="0" anchor="t">
            <a:normAutofit/>
          </a:bodyPr>
          <a:lstStyle/>
          <a:p>
            <a:pPr algn="l" indent="0" marL="0">
              <a:buNone/>
            </a:pPr>
            <a:r>
              <a:rPr lang="en-US" sz="850" dirty="0">
                <a:solidFill>
                  <a:srgbClr val="66778D"/>
                </a:solidFill>
                <a:latin typeface="Yu Gothic" pitchFamily="34" charset="0"/>
                <a:ea typeface="Yu Gothic" pitchFamily="34" charset="-122"/>
                <a:cs typeface="Yu Gothic" pitchFamily="34" charset="-120"/>
              </a:rPr>
              <a:t>経営者・ご担当者との対話を通じて、公開情報だけでは見えない背景や目標を整理し、方向性を共に考えます。</a:t>
            </a:r>
            <a:endParaRPr lang="en-US" sz="850" dirty="0"/>
          </a:p>
        </p:txBody>
      </p:sp>
      <p:sp>
        <p:nvSpPr>
          <p:cNvPr id="19" name="Shape 16"/>
          <p:cNvSpPr/>
          <p:nvPr/>
        </p:nvSpPr>
        <p:spPr>
          <a:xfrm>
            <a:off x="548640" y="4544568"/>
            <a:ext cx="6428232" cy="1088136"/>
          </a:xfrm>
          <a:prstGeom prst="roundRect">
            <a:avLst>
              <a:gd name="adj" fmla="val 6723"/>
            </a:avLst>
          </a:prstGeom>
          <a:solidFill>
            <a:srgbClr val="F7F9FC"/>
          </a:solidFill>
          <a:ln w="12700">
            <a:solidFill>
              <a:srgbClr val="F7F9FC">
                <a:alpha val="0"/>
              </a:srgbClr>
            </a:solidFill>
            <a:prstDash val="solid"/>
          </a:ln>
        </p:spPr>
      </p:sp>
      <p:sp>
        <p:nvSpPr>
          <p:cNvPr id="20" name="Shape 17"/>
          <p:cNvSpPr/>
          <p:nvPr/>
        </p:nvSpPr>
        <p:spPr>
          <a:xfrm>
            <a:off x="548640" y="4544568"/>
            <a:ext cx="164592" cy="1088136"/>
          </a:xfrm>
          <a:prstGeom prst="rect">
            <a:avLst/>
          </a:prstGeom>
          <a:solidFill>
            <a:srgbClr val="0E397B"/>
          </a:solidFill>
          <a:ln w="12700">
            <a:solidFill>
              <a:srgbClr val="0E397B">
                <a:alpha val="0"/>
              </a:srgbClr>
            </a:solidFill>
            <a:prstDash val="solid"/>
          </a:ln>
        </p:spPr>
      </p:sp>
      <p:sp>
        <p:nvSpPr>
          <p:cNvPr id="21" name="Text 18"/>
          <p:cNvSpPr txBox="1"/>
          <p:nvPr/>
        </p:nvSpPr>
        <p:spPr>
          <a:xfrm>
            <a:off x="859536" y="4709160"/>
            <a:ext cx="731520" cy="201168"/>
          </a:xfrm>
          <a:prstGeom prst="rect">
            <a:avLst/>
          </a:prstGeom>
          <a:noFill/>
          <a:ln/>
        </p:spPr>
        <p:txBody>
          <a:bodyPr wrap="square" lIns="0" tIns="0" rIns="0" bIns="0" rtlCol="0" anchor="ctr">
            <a:normAutofit/>
          </a:bodyPr>
          <a:lstStyle/>
          <a:p>
            <a:pPr algn="l" indent="0" marL="0">
              <a:buNone/>
            </a:pPr>
            <a:r>
              <a:rPr lang="en-US" sz="900" b="1" spc="120" kern="0" dirty="0">
                <a:solidFill>
                  <a:srgbClr val="0E397B"/>
                </a:solidFill>
                <a:latin typeface="Aptos" pitchFamily="34" charset="0"/>
                <a:ea typeface="Aptos" pitchFamily="34" charset="-122"/>
                <a:cs typeface="Aptos" pitchFamily="34" charset="-120"/>
              </a:rPr>
              <a:t>STEP 3</a:t>
            </a:r>
            <a:endParaRPr lang="en-US" sz="900" dirty="0"/>
          </a:p>
        </p:txBody>
      </p:sp>
      <p:sp>
        <p:nvSpPr>
          <p:cNvPr id="22" name="Text 19"/>
          <p:cNvSpPr txBox="1"/>
          <p:nvPr/>
        </p:nvSpPr>
        <p:spPr>
          <a:xfrm>
            <a:off x="859536" y="5001768"/>
            <a:ext cx="1078992" cy="219456"/>
          </a:xfrm>
          <a:prstGeom prst="rect">
            <a:avLst/>
          </a:prstGeom>
          <a:noFill/>
          <a:ln/>
        </p:spPr>
        <p:txBody>
          <a:bodyPr wrap="square" lIns="0" tIns="0" rIns="0" bIns="0" rtlCol="0" anchor="ctr">
            <a:normAutofit/>
          </a:bodyPr>
          <a:lstStyle/>
          <a:p>
            <a:pPr algn="l" indent="0" marL="0">
              <a:buNone/>
            </a:pPr>
            <a:r>
              <a:rPr lang="en-US" sz="800" b="1" dirty="0">
                <a:solidFill>
                  <a:srgbClr val="10243E"/>
                </a:solidFill>
                <a:latin typeface="Yu Gothic" pitchFamily="34" charset="0"/>
                <a:ea typeface="Yu Gothic" pitchFamily="34" charset="-122"/>
                <a:cs typeface="Yu Gothic" pitchFamily="34" charset="-120"/>
              </a:rPr>
              <a:t>98,800円（税込）</a:t>
            </a:r>
            <a:endParaRPr lang="en-US" sz="800" dirty="0"/>
          </a:p>
        </p:txBody>
      </p:sp>
      <p:sp>
        <p:nvSpPr>
          <p:cNvPr id="23" name="Text 20"/>
          <p:cNvSpPr txBox="1"/>
          <p:nvPr/>
        </p:nvSpPr>
        <p:spPr>
          <a:xfrm>
            <a:off x="1938528" y="4709160"/>
            <a:ext cx="4498848" cy="274320"/>
          </a:xfrm>
          <a:prstGeom prst="rect">
            <a:avLst/>
          </a:prstGeom>
          <a:noFill/>
          <a:ln/>
        </p:spPr>
        <p:txBody>
          <a:bodyPr wrap="square" lIns="0" tIns="0" rIns="0" bIns="0" rtlCol="0" anchor="ctr">
            <a:normAutofit/>
          </a:bodyPr>
          <a:lstStyle/>
          <a:p>
            <a:pPr algn="l" indent="0" marL="0">
              <a:buNone/>
            </a:pPr>
            <a:r>
              <a:rPr lang="en-US" sz="1300" b="1" dirty="0">
                <a:solidFill>
                  <a:srgbClr val="082A5E"/>
                </a:solidFill>
                <a:latin typeface="Yu Gothic" pitchFamily="34" charset="0"/>
                <a:ea typeface="Yu Gothic" pitchFamily="34" charset="-122"/>
                <a:cs typeface="Yu Gothic" pitchFamily="34" charset="-120"/>
              </a:rPr>
              <a:t>実行につながる改善提案をレポート</a:t>
            </a:r>
            <a:endParaRPr lang="en-US" sz="1300" dirty="0"/>
          </a:p>
        </p:txBody>
      </p:sp>
      <p:sp>
        <p:nvSpPr>
          <p:cNvPr id="24" name="Text 21"/>
          <p:cNvSpPr txBox="1"/>
          <p:nvPr/>
        </p:nvSpPr>
        <p:spPr>
          <a:xfrm>
            <a:off x="1938528" y="5047488"/>
            <a:ext cx="4489704" cy="402336"/>
          </a:xfrm>
          <a:prstGeom prst="rect">
            <a:avLst/>
          </a:prstGeom>
          <a:noFill/>
          <a:ln/>
        </p:spPr>
        <p:txBody>
          <a:bodyPr wrap="square" lIns="0" tIns="0" rIns="0" bIns="0" rtlCol="0" anchor="t">
            <a:normAutofit/>
          </a:bodyPr>
          <a:lstStyle/>
          <a:p>
            <a:pPr algn="l" indent="0" marL="0">
              <a:buNone/>
            </a:pPr>
            <a:r>
              <a:rPr lang="en-US" sz="850" dirty="0">
                <a:solidFill>
                  <a:srgbClr val="66778D"/>
                </a:solidFill>
                <a:latin typeface="Yu Gothic" pitchFamily="34" charset="0"/>
                <a:ea typeface="Yu Gothic" pitchFamily="34" charset="-122"/>
                <a:cs typeface="Yu Gothic" pitchFamily="34" charset="-120"/>
              </a:rPr>
              <a:t>Step1・Step2の内容を統合し、優先順位と具体策を明確にした提案レポートを作成。ネイビーの専用ファイルで納品します。</a:t>
            </a:r>
            <a:endParaRPr lang="en-US" sz="850" dirty="0"/>
          </a:p>
        </p:txBody>
      </p:sp>
      <p:sp>
        <p:nvSpPr>
          <p:cNvPr id="25" name="Text 22"/>
          <p:cNvSpPr txBox="1"/>
          <p:nvPr/>
        </p:nvSpPr>
        <p:spPr>
          <a:xfrm>
            <a:off x="548640" y="5980176"/>
            <a:ext cx="2011680" cy="228600"/>
          </a:xfrm>
          <a:prstGeom prst="rect">
            <a:avLst/>
          </a:prstGeom>
          <a:noFill/>
          <a:ln/>
        </p:spPr>
        <p:txBody>
          <a:bodyPr wrap="square" lIns="0" tIns="0" rIns="0" bIns="0" rtlCol="0" anchor="ctr">
            <a:normAutofit/>
          </a:bodyPr>
          <a:lstStyle/>
          <a:p>
            <a:pPr algn="l" indent="0" marL="0">
              <a:buNone/>
            </a:pPr>
            <a:r>
              <a:rPr lang="en-US" sz="900" b="1" spc="160" kern="0" dirty="0">
                <a:solidFill>
                  <a:srgbClr val="1155F5"/>
                </a:solidFill>
                <a:latin typeface="Aptos" pitchFamily="34" charset="0"/>
                <a:ea typeface="Aptos" pitchFamily="34" charset="-122"/>
                <a:cs typeface="Aptos" pitchFamily="34" charset="-120"/>
              </a:rPr>
              <a:t>OUR PROMISE</a:t>
            </a:r>
            <a:endParaRPr lang="en-US" sz="900" dirty="0"/>
          </a:p>
        </p:txBody>
      </p:sp>
      <p:sp>
        <p:nvSpPr>
          <p:cNvPr id="26" name="Text 23"/>
          <p:cNvSpPr txBox="1"/>
          <p:nvPr/>
        </p:nvSpPr>
        <p:spPr>
          <a:xfrm>
            <a:off x="548640" y="6281928"/>
            <a:ext cx="3108960" cy="320040"/>
          </a:xfrm>
          <a:prstGeom prst="rect">
            <a:avLst/>
          </a:prstGeom>
          <a:noFill/>
          <a:ln/>
        </p:spPr>
        <p:txBody>
          <a:bodyPr wrap="square" lIns="0" tIns="0" rIns="0" bIns="0" rtlCol="0" anchor="ctr">
            <a:normAutofit/>
          </a:bodyPr>
          <a:lstStyle/>
          <a:p>
            <a:pPr algn="l" indent="0" marL="0">
              <a:buNone/>
            </a:pPr>
            <a:r>
              <a:rPr lang="en-US" sz="1750" b="1" dirty="0">
                <a:solidFill>
                  <a:srgbClr val="082A5E"/>
                </a:solidFill>
                <a:latin typeface="Yu Gothic" pitchFamily="34" charset="0"/>
                <a:ea typeface="Yu Gothic" pitchFamily="34" charset="-122"/>
                <a:cs typeface="Yu Gothic" pitchFamily="34" charset="-120"/>
              </a:rPr>
              <a:t>AIDECがお約束すること</a:t>
            </a:r>
            <a:endParaRPr lang="en-US" sz="1750" dirty="0"/>
          </a:p>
        </p:txBody>
      </p:sp>
      <p:sp>
        <p:nvSpPr>
          <p:cNvPr id="27" name="Shape 24"/>
          <p:cNvSpPr/>
          <p:nvPr/>
        </p:nvSpPr>
        <p:spPr>
          <a:xfrm>
            <a:off x="548640" y="6766560"/>
            <a:ext cx="1938528" cy="1188720"/>
          </a:xfrm>
          <a:prstGeom prst="roundRect">
            <a:avLst>
              <a:gd name="adj" fmla="val 6154"/>
            </a:avLst>
          </a:prstGeom>
          <a:solidFill>
            <a:srgbClr val="FFFFFF"/>
          </a:solidFill>
          <a:ln w="12700">
            <a:solidFill>
              <a:srgbClr val="FFFFFF">
                <a:alpha val="0"/>
              </a:srgbClr>
            </a:solidFill>
            <a:prstDash val="solid"/>
          </a:ln>
        </p:spPr>
      </p:sp>
      <p:sp>
        <p:nvSpPr>
          <p:cNvPr id="28" name="Shape 25"/>
          <p:cNvSpPr/>
          <p:nvPr/>
        </p:nvSpPr>
        <p:spPr>
          <a:xfrm>
            <a:off x="548640" y="6766560"/>
            <a:ext cx="1938528" cy="1188720"/>
          </a:xfrm>
          <a:prstGeom prst="roundRect">
            <a:avLst>
              <a:gd name="adj" fmla="val 6154"/>
            </a:avLst>
          </a:prstGeom>
          <a:solidFill>
            <a:srgbClr val="FFFFFF"/>
          </a:solidFill>
          <a:ln w="12700">
            <a:solidFill>
              <a:srgbClr val="D9E3EF"/>
            </a:solidFill>
            <a:prstDash val="solid"/>
          </a:ln>
        </p:spPr>
      </p:sp>
      <p:sp>
        <p:nvSpPr>
          <p:cNvPr id="29" name="Text 26"/>
          <p:cNvSpPr txBox="1"/>
          <p:nvPr/>
        </p:nvSpPr>
        <p:spPr>
          <a:xfrm>
            <a:off x="694944" y="6903720"/>
            <a:ext cx="411480" cy="201168"/>
          </a:xfrm>
          <a:prstGeom prst="rect">
            <a:avLst/>
          </a:prstGeom>
          <a:noFill/>
          <a:ln/>
        </p:spPr>
        <p:txBody>
          <a:bodyPr wrap="square" lIns="0" tIns="0" rIns="0" bIns="0" rtlCol="0" anchor="ctr">
            <a:normAutofit/>
          </a:bodyPr>
          <a:lstStyle/>
          <a:p>
            <a:pPr algn="l" indent="0" marL="0">
              <a:buNone/>
            </a:pPr>
            <a:r>
              <a:rPr lang="en-US" sz="1000" b="1" dirty="0">
                <a:solidFill>
                  <a:srgbClr val="1155F5"/>
                </a:solidFill>
                <a:latin typeface="Aptos" pitchFamily="34" charset="0"/>
                <a:ea typeface="Aptos" pitchFamily="34" charset="-122"/>
                <a:cs typeface="Aptos" pitchFamily="34" charset="-120"/>
              </a:rPr>
              <a:t>01</a:t>
            </a:r>
            <a:endParaRPr lang="en-US" sz="1000" dirty="0"/>
          </a:p>
        </p:txBody>
      </p:sp>
      <p:sp>
        <p:nvSpPr>
          <p:cNvPr id="30" name="Text 27"/>
          <p:cNvSpPr txBox="1"/>
          <p:nvPr/>
        </p:nvSpPr>
        <p:spPr>
          <a:xfrm>
            <a:off x="694944" y="7150608"/>
            <a:ext cx="1627632" cy="256032"/>
          </a:xfrm>
          <a:prstGeom prst="rect">
            <a:avLst/>
          </a:prstGeom>
          <a:noFill/>
          <a:ln/>
        </p:spPr>
        <p:txBody>
          <a:bodyPr wrap="square" lIns="0" tIns="0" rIns="0" bIns="0" rtlCol="0" anchor="ctr">
            <a:normAutofit/>
          </a:bodyPr>
          <a:lstStyle/>
          <a:p>
            <a:pPr algn="l" indent="0" marL="0">
              <a:buNone/>
            </a:pPr>
            <a:r>
              <a:rPr lang="en-US" sz="1020" b="1" dirty="0">
                <a:solidFill>
                  <a:srgbClr val="082A5E"/>
                </a:solidFill>
                <a:latin typeface="Yu Gothic" pitchFamily="34" charset="0"/>
                <a:ea typeface="Yu Gothic" pitchFamily="34" charset="-122"/>
                <a:cs typeface="Yu Gothic" pitchFamily="34" charset="-120"/>
              </a:rPr>
              <a:t>答えを押しつけません</a:t>
            </a:r>
            <a:endParaRPr lang="en-US" sz="1020" dirty="0"/>
          </a:p>
        </p:txBody>
      </p:sp>
      <p:sp>
        <p:nvSpPr>
          <p:cNvPr id="31" name="Text 28"/>
          <p:cNvSpPr txBox="1"/>
          <p:nvPr/>
        </p:nvSpPr>
        <p:spPr>
          <a:xfrm>
            <a:off x="694944" y="7461504"/>
            <a:ext cx="1627632" cy="365760"/>
          </a:xfrm>
          <a:prstGeom prst="rect">
            <a:avLst/>
          </a:prstGeom>
          <a:noFill/>
          <a:ln/>
        </p:spPr>
        <p:txBody>
          <a:bodyPr wrap="square" lIns="0" tIns="0" rIns="0" bIns="0" rtlCol="0" anchor="t">
            <a:normAutofit/>
          </a:bodyPr>
          <a:lstStyle/>
          <a:p>
            <a:pPr algn="l" indent="0" marL="0">
              <a:buNone/>
            </a:pPr>
            <a:r>
              <a:rPr lang="en-US" sz="730" dirty="0">
                <a:solidFill>
                  <a:srgbClr val="66778D"/>
                </a:solidFill>
                <a:latin typeface="Yu Gothic" pitchFamily="34" charset="0"/>
                <a:ea typeface="Yu Gothic" pitchFamily="34" charset="-122"/>
                <a:cs typeface="Yu Gothic" pitchFamily="34" charset="-120"/>
              </a:rPr>
              <a:t>対話を重ね、お客様と一緒に最適解を見つけます。</a:t>
            </a:r>
            <a:endParaRPr lang="en-US" sz="730" dirty="0"/>
          </a:p>
        </p:txBody>
      </p:sp>
      <p:sp>
        <p:nvSpPr>
          <p:cNvPr id="32" name="Shape 29"/>
          <p:cNvSpPr/>
          <p:nvPr/>
        </p:nvSpPr>
        <p:spPr>
          <a:xfrm>
            <a:off x="2724912" y="6766560"/>
            <a:ext cx="1938528" cy="1188720"/>
          </a:xfrm>
          <a:prstGeom prst="roundRect">
            <a:avLst>
              <a:gd name="adj" fmla="val 6154"/>
            </a:avLst>
          </a:prstGeom>
          <a:solidFill>
            <a:srgbClr val="FFFFFF"/>
          </a:solidFill>
          <a:ln w="12700">
            <a:solidFill>
              <a:srgbClr val="FFFFFF">
                <a:alpha val="0"/>
              </a:srgbClr>
            </a:solidFill>
            <a:prstDash val="solid"/>
          </a:ln>
        </p:spPr>
      </p:sp>
      <p:sp>
        <p:nvSpPr>
          <p:cNvPr id="33" name="Shape 30"/>
          <p:cNvSpPr/>
          <p:nvPr/>
        </p:nvSpPr>
        <p:spPr>
          <a:xfrm>
            <a:off x="2724912" y="6766560"/>
            <a:ext cx="1938528" cy="1188720"/>
          </a:xfrm>
          <a:prstGeom prst="roundRect">
            <a:avLst>
              <a:gd name="adj" fmla="val 6154"/>
            </a:avLst>
          </a:prstGeom>
          <a:solidFill>
            <a:srgbClr val="FFFFFF"/>
          </a:solidFill>
          <a:ln w="12700">
            <a:solidFill>
              <a:srgbClr val="D9E3EF"/>
            </a:solidFill>
            <a:prstDash val="solid"/>
          </a:ln>
        </p:spPr>
      </p:sp>
      <p:sp>
        <p:nvSpPr>
          <p:cNvPr id="34" name="Text 31"/>
          <p:cNvSpPr txBox="1"/>
          <p:nvPr/>
        </p:nvSpPr>
        <p:spPr>
          <a:xfrm>
            <a:off x="2871216" y="6903720"/>
            <a:ext cx="411480" cy="201168"/>
          </a:xfrm>
          <a:prstGeom prst="rect">
            <a:avLst/>
          </a:prstGeom>
          <a:noFill/>
          <a:ln/>
        </p:spPr>
        <p:txBody>
          <a:bodyPr wrap="square" lIns="0" tIns="0" rIns="0" bIns="0" rtlCol="0" anchor="ctr">
            <a:normAutofit/>
          </a:bodyPr>
          <a:lstStyle/>
          <a:p>
            <a:pPr algn="l" indent="0" marL="0">
              <a:buNone/>
            </a:pPr>
            <a:r>
              <a:rPr lang="en-US" sz="1000" b="1" dirty="0">
                <a:solidFill>
                  <a:srgbClr val="1155F5"/>
                </a:solidFill>
                <a:latin typeface="Aptos" pitchFamily="34" charset="0"/>
                <a:ea typeface="Aptos" pitchFamily="34" charset="-122"/>
                <a:cs typeface="Aptos" pitchFamily="34" charset="-120"/>
              </a:rPr>
              <a:t>02</a:t>
            </a:r>
            <a:endParaRPr lang="en-US" sz="1000" dirty="0"/>
          </a:p>
        </p:txBody>
      </p:sp>
      <p:sp>
        <p:nvSpPr>
          <p:cNvPr id="35" name="Text 32"/>
          <p:cNvSpPr txBox="1"/>
          <p:nvPr/>
        </p:nvSpPr>
        <p:spPr>
          <a:xfrm>
            <a:off x="2871216" y="7150608"/>
            <a:ext cx="1627632" cy="256032"/>
          </a:xfrm>
          <a:prstGeom prst="rect">
            <a:avLst/>
          </a:prstGeom>
          <a:noFill/>
          <a:ln/>
        </p:spPr>
        <p:txBody>
          <a:bodyPr wrap="square" lIns="0" tIns="0" rIns="0" bIns="0" rtlCol="0" anchor="ctr">
            <a:normAutofit/>
          </a:bodyPr>
          <a:lstStyle/>
          <a:p>
            <a:pPr algn="l" indent="0" marL="0">
              <a:buNone/>
            </a:pPr>
            <a:r>
              <a:rPr lang="en-US" sz="1020" b="1" dirty="0">
                <a:solidFill>
                  <a:srgbClr val="082A5E"/>
                </a:solidFill>
                <a:latin typeface="Yu Gothic" pitchFamily="34" charset="0"/>
                <a:ea typeface="Yu Gothic" pitchFamily="34" charset="-122"/>
                <a:cs typeface="Yu Gothic" pitchFamily="34" charset="-120"/>
              </a:rPr>
              <a:t>今ある資産を活かします</a:t>
            </a:r>
            <a:endParaRPr lang="en-US" sz="1020" dirty="0"/>
          </a:p>
        </p:txBody>
      </p:sp>
      <p:sp>
        <p:nvSpPr>
          <p:cNvPr id="36" name="Text 33"/>
          <p:cNvSpPr txBox="1"/>
          <p:nvPr/>
        </p:nvSpPr>
        <p:spPr>
          <a:xfrm>
            <a:off x="2871216" y="7461504"/>
            <a:ext cx="1627632" cy="365760"/>
          </a:xfrm>
          <a:prstGeom prst="rect">
            <a:avLst/>
          </a:prstGeom>
          <a:noFill/>
          <a:ln/>
        </p:spPr>
        <p:txBody>
          <a:bodyPr wrap="square" lIns="0" tIns="0" rIns="0" bIns="0" rtlCol="0" anchor="t">
            <a:normAutofit/>
          </a:bodyPr>
          <a:lstStyle/>
          <a:p>
            <a:pPr algn="l" indent="0" marL="0">
              <a:buNone/>
            </a:pPr>
            <a:r>
              <a:rPr lang="en-US" sz="730" dirty="0">
                <a:solidFill>
                  <a:srgbClr val="66778D"/>
                </a:solidFill>
                <a:latin typeface="Yu Gothic" pitchFamily="34" charset="0"/>
                <a:ea typeface="Yu Gothic" pitchFamily="34" charset="-122"/>
                <a:cs typeface="Yu Gothic" pitchFamily="34" charset="-120"/>
              </a:rPr>
              <a:t>新しい投資ありきではなく、既存の強みや仕組みから考えます。</a:t>
            </a:r>
            <a:endParaRPr lang="en-US" sz="730" dirty="0"/>
          </a:p>
        </p:txBody>
      </p:sp>
      <p:sp>
        <p:nvSpPr>
          <p:cNvPr id="37" name="Shape 34"/>
          <p:cNvSpPr/>
          <p:nvPr/>
        </p:nvSpPr>
        <p:spPr>
          <a:xfrm>
            <a:off x="4901184" y="6766560"/>
            <a:ext cx="1938528" cy="1188720"/>
          </a:xfrm>
          <a:prstGeom prst="roundRect">
            <a:avLst>
              <a:gd name="adj" fmla="val 6154"/>
            </a:avLst>
          </a:prstGeom>
          <a:solidFill>
            <a:srgbClr val="FFFFFF"/>
          </a:solidFill>
          <a:ln w="12700">
            <a:solidFill>
              <a:srgbClr val="FFFFFF">
                <a:alpha val="0"/>
              </a:srgbClr>
            </a:solidFill>
            <a:prstDash val="solid"/>
          </a:ln>
        </p:spPr>
      </p:sp>
      <p:sp>
        <p:nvSpPr>
          <p:cNvPr id="38" name="Shape 35"/>
          <p:cNvSpPr/>
          <p:nvPr/>
        </p:nvSpPr>
        <p:spPr>
          <a:xfrm>
            <a:off x="4901184" y="6766560"/>
            <a:ext cx="1938528" cy="1188720"/>
          </a:xfrm>
          <a:prstGeom prst="roundRect">
            <a:avLst>
              <a:gd name="adj" fmla="val 6154"/>
            </a:avLst>
          </a:prstGeom>
          <a:solidFill>
            <a:srgbClr val="FFFFFF"/>
          </a:solidFill>
          <a:ln w="12700">
            <a:solidFill>
              <a:srgbClr val="D9E3EF"/>
            </a:solidFill>
            <a:prstDash val="solid"/>
          </a:ln>
        </p:spPr>
      </p:sp>
      <p:sp>
        <p:nvSpPr>
          <p:cNvPr id="39" name="Text 36"/>
          <p:cNvSpPr txBox="1"/>
          <p:nvPr/>
        </p:nvSpPr>
        <p:spPr>
          <a:xfrm>
            <a:off x="5047488" y="6903720"/>
            <a:ext cx="411480" cy="201168"/>
          </a:xfrm>
          <a:prstGeom prst="rect">
            <a:avLst/>
          </a:prstGeom>
          <a:noFill/>
          <a:ln/>
        </p:spPr>
        <p:txBody>
          <a:bodyPr wrap="square" lIns="0" tIns="0" rIns="0" bIns="0" rtlCol="0" anchor="ctr">
            <a:normAutofit/>
          </a:bodyPr>
          <a:lstStyle/>
          <a:p>
            <a:pPr algn="l" indent="0" marL="0">
              <a:buNone/>
            </a:pPr>
            <a:r>
              <a:rPr lang="en-US" sz="1000" b="1" dirty="0">
                <a:solidFill>
                  <a:srgbClr val="1155F5"/>
                </a:solidFill>
                <a:latin typeface="Aptos" pitchFamily="34" charset="0"/>
                <a:ea typeface="Aptos" pitchFamily="34" charset="-122"/>
                <a:cs typeface="Aptos" pitchFamily="34" charset="-120"/>
              </a:rPr>
              <a:t>03</a:t>
            </a:r>
            <a:endParaRPr lang="en-US" sz="1000" dirty="0"/>
          </a:p>
        </p:txBody>
      </p:sp>
      <p:sp>
        <p:nvSpPr>
          <p:cNvPr id="40" name="Text 37"/>
          <p:cNvSpPr txBox="1"/>
          <p:nvPr/>
        </p:nvSpPr>
        <p:spPr>
          <a:xfrm>
            <a:off x="5047488" y="7150608"/>
            <a:ext cx="1627632" cy="256032"/>
          </a:xfrm>
          <a:prstGeom prst="rect">
            <a:avLst/>
          </a:prstGeom>
          <a:noFill/>
          <a:ln/>
        </p:spPr>
        <p:txBody>
          <a:bodyPr wrap="square" lIns="0" tIns="0" rIns="0" bIns="0" rtlCol="0" anchor="ctr">
            <a:normAutofit/>
          </a:bodyPr>
          <a:lstStyle/>
          <a:p>
            <a:pPr algn="l" indent="0" marL="0">
              <a:buNone/>
            </a:pPr>
            <a:r>
              <a:rPr lang="en-US" sz="1020" b="1" dirty="0">
                <a:solidFill>
                  <a:srgbClr val="082A5E"/>
                </a:solidFill>
                <a:latin typeface="Yu Gothic" pitchFamily="34" charset="0"/>
                <a:ea typeface="Yu Gothic" pitchFamily="34" charset="-122"/>
                <a:cs typeface="Yu Gothic" pitchFamily="34" charset="-120"/>
              </a:rPr>
              <a:t>次の一歩を明確にします</a:t>
            </a:r>
            <a:endParaRPr lang="en-US" sz="1020" dirty="0"/>
          </a:p>
        </p:txBody>
      </p:sp>
      <p:sp>
        <p:nvSpPr>
          <p:cNvPr id="41" name="Text 38"/>
          <p:cNvSpPr txBox="1"/>
          <p:nvPr/>
        </p:nvSpPr>
        <p:spPr>
          <a:xfrm>
            <a:off x="5047488" y="7461504"/>
            <a:ext cx="1627632" cy="365760"/>
          </a:xfrm>
          <a:prstGeom prst="rect">
            <a:avLst/>
          </a:prstGeom>
          <a:noFill/>
          <a:ln/>
        </p:spPr>
        <p:txBody>
          <a:bodyPr wrap="square" lIns="0" tIns="0" rIns="0" bIns="0" rtlCol="0" anchor="t">
            <a:normAutofit/>
          </a:bodyPr>
          <a:lstStyle/>
          <a:p>
            <a:pPr algn="l" indent="0" marL="0">
              <a:buNone/>
            </a:pPr>
            <a:r>
              <a:rPr lang="en-US" sz="730" dirty="0">
                <a:solidFill>
                  <a:srgbClr val="66778D"/>
                </a:solidFill>
                <a:latin typeface="Yu Gothic" pitchFamily="34" charset="0"/>
                <a:ea typeface="Yu Gothic" pitchFamily="34" charset="-122"/>
                <a:cs typeface="Yu Gothic" pitchFamily="34" charset="-120"/>
              </a:rPr>
              <a:t>診断で終わらせず、実行できる優先順位と道筋を示します。</a:t>
            </a:r>
            <a:endParaRPr lang="en-US" sz="730" dirty="0"/>
          </a:p>
        </p:txBody>
      </p:sp>
      <p:sp>
        <p:nvSpPr>
          <p:cNvPr id="42" name="Shape 39"/>
          <p:cNvSpPr/>
          <p:nvPr/>
        </p:nvSpPr>
        <p:spPr>
          <a:xfrm>
            <a:off x="548640" y="8257032"/>
            <a:ext cx="6428232" cy="1755648"/>
          </a:xfrm>
          <a:prstGeom prst="roundRect">
            <a:avLst>
              <a:gd name="adj" fmla="val 5208"/>
            </a:avLst>
          </a:prstGeom>
          <a:solidFill>
            <a:srgbClr val="061B3A"/>
          </a:solidFill>
          <a:ln w="12700">
            <a:solidFill>
              <a:srgbClr val="061B3A">
                <a:alpha val="0"/>
              </a:srgbClr>
            </a:solidFill>
            <a:prstDash val="solid"/>
          </a:ln>
        </p:spPr>
      </p:sp>
      <p:pic>
        <p:nvPicPr>
          <p:cNvPr id="43" name="Image 1" descr="C:\Users\admin\Documents\Codex\2026-07-29\referenced-chatgpt-conversation-this-is-untrusted\work\print-design\aidec-symbol.jpeg">    </p:cNvPr>
          <p:cNvPicPr>
            <a:picLocks noChangeAspect="1"/>
          </p:cNvPicPr>
          <p:nvPr/>
        </p:nvPicPr>
        <p:blipFill>
          <a:blip r:embed="rId2"/>
          <a:stretch>
            <a:fillRect/>
          </a:stretch>
        </p:blipFill>
        <p:spPr>
          <a:xfrm>
            <a:off x="749808" y="8476488"/>
            <a:ext cx="676656" cy="676656"/>
          </a:xfrm>
          <a:prstGeom prst="rect">
            <a:avLst/>
          </a:prstGeom>
        </p:spPr>
      </p:pic>
      <p:sp>
        <p:nvSpPr>
          <p:cNvPr id="44" name="Text 40"/>
          <p:cNvSpPr txBox="1"/>
          <p:nvPr/>
        </p:nvSpPr>
        <p:spPr>
          <a:xfrm>
            <a:off x="1572768" y="8476488"/>
            <a:ext cx="1207008" cy="274320"/>
          </a:xfrm>
          <a:prstGeom prst="rect">
            <a:avLst/>
          </a:prstGeom>
          <a:noFill/>
          <a:ln/>
        </p:spPr>
        <p:txBody>
          <a:bodyPr wrap="square" lIns="0" tIns="0" rIns="0" bIns="0" rtlCol="0" anchor="ctr">
            <a:normAutofit/>
          </a:bodyPr>
          <a:lstStyle/>
          <a:p>
            <a:pPr algn="l" indent="0" marL="0">
              <a:buNone/>
            </a:pPr>
            <a:r>
              <a:rPr lang="en-US" sz="1800" b="1" spc="260" kern="0" dirty="0">
                <a:solidFill>
                  <a:srgbClr val="FFFFFF"/>
                </a:solidFill>
                <a:latin typeface="Aptos" pitchFamily="34" charset="0"/>
                <a:ea typeface="Aptos" pitchFamily="34" charset="-122"/>
                <a:cs typeface="Aptos" pitchFamily="34" charset="-120"/>
              </a:rPr>
              <a:t>AIDEC</a:t>
            </a:r>
            <a:endParaRPr lang="en-US" sz="1800" dirty="0"/>
          </a:p>
        </p:txBody>
      </p:sp>
      <p:sp>
        <p:nvSpPr>
          <p:cNvPr id="45" name="Text 41"/>
          <p:cNvSpPr txBox="1"/>
          <p:nvPr/>
        </p:nvSpPr>
        <p:spPr>
          <a:xfrm>
            <a:off x="1581912" y="8814816"/>
            <a:ext cx="3566160" cy="237744"/>
          </a:xfrm>
          <a:prstGeom prst="rect">
            <a:avLst/>
          </a:prstGeom>
          <a:noFill/>
          <a:ln/>
        </p:spPr>
        <p:txBody>
          <a:bodyPr wrap="square" lIns="0" tIns="0" rIns="0" bIns="0" rtlCol="0" anchor="ctr">
            <a:normAutofit/>
          </a:bodyPr>
          <a:lstStyle/>
          <a:p>
            <a:pPr algn="l" indent="0" marL="0">
              <a:buNone/>
            </a:pPr>
            <a:r>
              <a:rPr lang="en-US" sz="1050" b="1" dirty="0">
                <a:solidFill>
                  <a:srgbClr val="FFFFFF"/>
                </a:solidFill>
                <a:latin typeface="Yu Gothic" pitchFamily="34" charset="0"/>
                <a:ea typeface="Yu Gothic" pitchFamily="34" charset="-122"/>
                <a:cs typeface="Yu Gothic" pitchFamily="34" charset="-120"/>
              </a:rPr>
              <a:t>AIと共に、未来の一歩のコンパスに。</a:t>
            </a:r>
            <a:endParaRPr lang="en-US" sz="1050" dirty="0"/>
          </a:p>
        </p:txBody>
      </p:sp>
      <p:sp>
        <p:nvSpPr>
          <p:cNvPr id="46" name="Text 42"/>
          <p:cNvSpPr txBox="1"/>
          <p:nvPr/>
        </p:nvSpPr>
        <p:spPr>
          <a:xfrm>
            <a:off x="749808" y="9345168"/>
            <a:ext cx="4334256" cy="182880"/>
          </a:xfrm>
          <a:prstGeom prst="rect">
            <a:avLst/>
          </a:prstGeom>
          <a:noFill/>
          <a:ln/>
        </p:spPr>
        <p:txBody>
          <a:bodyPr wrap="square" lIns="0" tIns="0" rIns="0" bIns="0" rtlCol="0" anchor="ctr">
            <a:normAutofit/>
          </a:bodyPr>
          <a:lstStyle/>
          <a:p>
            <a:pPr algn="l" indent="0" marL="0">
              <a:buNone/>
            </a:pPr>
            <a:r>
              <a:rPr lang="en-US" sz="770" dirty="0">
                <a:solidFill>
                  <a:srgbClr val="C9D9EC"/>
                </a:solidFill>
                <a:latin typeface="Yu Gothic" pitchFamily="34" charset="0"/>
                <a:ea typeface="Yu Gothic" pitchFamily="34" charset="-122"/>
                <a:cs typeface="Yu Gothic" pitchFamily="34" charset="-120"/>
              </a:rPr>
              <a:t>〒150-0012 東京都渋谷区広尾1-2-1 ヒカリビル4F</a:t>
            </a:r>
            <a:endParaRPr lang="en-US" sz="770" dirty="0"/>
          </a:p>
        </p:txBody>
      </p:sp>
      <p:sp>
        <p:nvSpPr>
          <p:cNvPr id="47" name="Text 43"/>
          <p:cNvSpPr txBox="1"/>
          <p:nvPr/>
        </p:nvSpPr>
        <p:spPr>
          <a:xfrm>
            <a:off x="749808" y="9592056"/>
            <a:ext cx="4416552" cy="182880"/>
          </a:xfrm>
          <a:prstGeom prst="rect">
            <a:avLst/>
          </a:prstGeom>
          <a:noFill/>
          <a:ln/>
        </p:spPr>
        <p:txBody>
          <a:bodyPr wrap="square" lIns="0" tIns="0" rIns="0" bIns="0" rtlCol="0" anchor="ctr">
            <a:normAutofit/>
          </a:bodyPr>
          <a:lstStyle/>
          <a:p>
            <a:pPr algn="l" indent="0" marL="0">
              <a:buNone/>
            </a:pPr>
            <a:r>
              <a:rPr lang="en-US" sz="790" dirty="0">
                <a:solidFill>
                  <a:srgbClr val="C9D9EC"/>
                </a:solidFill>
                <a:latin typeface="Aptos" pitchFamily="34" charset="0"/>
                <a:ea typeface="Aptos" pitchFamily="34" charset="-122"/>
                <a:cs typeface="Aptos" pitchFamily="34" charset="-120"/>
              </a:rPr>
              <a:t>TEL  03-6452-2817   /   MAIL  info@ai-dec.jp</a:t>
            </a:r>
            <a:endParaRPr lang="en-US" sz="790" dirty="0"/>
          </a:p>
        </p:txBody>
      </p:sp>
      <p:sp>
        <p:nvSpPr>
          <p:cNvPr id="48" name="Shape 44"/>
          <p:cNvSpPr/>
          <p:nvPr/>
        </p:nvSpPr>
        <p:spPr>
          <a:xfrm>
            <a:off x="5641848" y="8458200"/>
            <a:ext cx="1005840" cy="1005840"/>
          </a:xfrm>
          <a:prstGeom prst="roundRect">
            <a:avLst>
              <a:gd name="adj" fmla="val 4545"/>
            </a:avLst>
          </a:prstGeom>
          <a:solidFill>
            <a:srgbClr val="FFFFFF"/>
          </a:solidFill>
          <a:ln w="12700">
            <a:solidFill>
              <a:srgbClr val="FFFFFF">
                <a:alpha val="0"/>
              </a:srgbClr>
            </a:solidFill>
            <a:prstDash val="solid"/>
          </a:ln>
        </p:spPr>
      </p:sp>
      <p:pic>
        <p:nvPicPr>
          <p:cNvPr id="49" name="Image 2" descr="C:\Users\admin\Documents\Codex\2026-07-29\referenced-chatgpt-conversation-this-is-untrusted\work\print-design\qr-ai-dec.png">    </p:cNvPr>
          <p:cNvPicPr>
            <a:picLocks noChangeAspect="1"/>
          </p:cNvPicPr>
          <p:nvPr/>
        </p:nvPicPr>
        <p:blipFill>
          <a:blip r:embed="rId3"/>
          <a:stretch>
            <a:fillRect/>
          </a:stretch>
        </p:blipFill>
        <p:spPr>
          <a:xfrm>
            <a:off x="5696712" y="8513064"/>
            <a:ext cx="896112" cy="896112"/>
          </a:xfrm>
          <a:prstGeom prst="rect">
            <a:avLst/>
          </a:prstGeom>
        </p:spPr>
      </p:pic>
      <p:sp>
        <p:nvSpPr>
          <p:cNvPr id="50" name="Text 45"/>
          <p:cNvSpPr txBox="1"/>
          <p:nvPr/>
        </p:nvSpPr>
        <p:spPr>
          <a:xfrm>
            <a:off x="5276088" y="9619488"/>
            <a:ext cx="1719072" cy="182880"/>
          </a:xfrm>
          <a:prstGeom prst="rect">
            <a:avLst/>
          </a:prstGeom>
          <a:noFill/>
          <a:ln/>
        </p:spPr>
        <p:txBody>
          <a:bodyPr wrap="square" lIns="0" tIns="0" rIns="0" bIns="0" rtlCol="0" anchor="ctr">
            <a:normAutofit/>
          </a:bodyPr>
          <a:lstStyle/>
          <a:p>
            <a:pPr algn="ctr" indent="0" marL="0">
              <a:buNone/>
            </a:pPr>
            <a:r>
              <a:rPr lang="en-US" sz="780" b="1" dirty="0">
                <a:solidFill>
                  <a:srgbClr val="FFFFFF"/>
                </a:solidFill>
                <a:latin typeface="Aptos" pitchFamily="34" charset="0"/>
                <a:ea typeface="Aptos" pitchFamily="34" charset="-122"/>
                <a:cs typeface="Aptos" pitchFamily="34" charset="-120"/>
              </a:rPr>
              <a:t>https://ai-dec.jp</a:t>
            </a:r>
            <a:endParaRPr lang="en-US" sz="7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AIDEC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AIDEC A4パンフレット 両面</dc:title>
  <dc:subject>AIDEC A4パンフレット 両面</dc:subject>
  <dc:creator>AIDEC</dc:creator>
  <cp:lastModifiedBy>AIDEC</cp:lastModifiedBy>
  <cp:revision>1</cp:revision>
  <dcterms:created xsi:type="dcterms:W3CDTF">2026-07-30T01:04:39Z</dcterms:created>
  <dcterms:modified xsi:type="dcterms:W3CDTF">2026-07-30T01:04:39Z</dcterms:modified>
</cp:coreProperties>
</file>